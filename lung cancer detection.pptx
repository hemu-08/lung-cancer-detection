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418" r:id="rId4"/>
    <p:sldId id="419" r:id="rId6"/>
    <p:sldId id="439" r:id="rId7"/>
    <p:sldId id="432" r:id="rId8"/>
    <p:sldId id="434" r:id="rId9"/>
    <p:sldId id="416" r:id="rId10"/>
    <p:sldId id="440" r:id="rId11"/>
    <p:sldId id="441" r:id="rId12"/>
    <p:sldId id="442" r:id="rId13"/>
    <p:sldId id="444" r:id="rId14"/>
    <p:sldId id="443" r:id="rId15"/>
    <p:sldId id="429" r:id="rId16"/>
    <p:sldId id="430" r:id="rId17"/>
    <p:sldId id="431" r:id="rId18"/>
    <p:sldId id="42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1" autoAdjust="0"/>
    <p:restoredTop sz="94668"/>
  </p:normalViewPr>
  <p:slideViewPr>
    <p:cSldViewPr snapToGrid="0">
      <p:cViewPr>
        <p:scale>
          <a:sx n="91" d="100"/>
          <a:sy n="91" d="100"/>
        </p:scale>
        <p:origin x="768" y="7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A43A09-9997-4C50-BA1D-88D60912DB19}"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AAEB01-AA1F-4954-AD9F-8530C3275019}"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AAAEB01-AA1F-4954-AD9F-8530C3275019}"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3020774-0962-4E90-8515-C97C94E7319B}"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BCDBC5-4E49-49CB-B926-A54925945C9F}"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19564E5D-2816-4F75-A11C-993F76DF24F2}"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BCDBC5-4E49-49CB-B926-A54925945C9F}"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86C76BE-E0D6-4B2F-9024-ABB0E0197A00}"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BCDBC5-4E49-49CB-B926-A54925945C9F}"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14B463CA-C478-47A7-85EF-30F96C51044F}"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BCDBC5-4E49-49CB-B926-A54925945C9F}"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2878986C-8477-4ACF-B90D-E53A55B13F18}" type="datetime1">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CBCDBC5-4E49-49CB-B926-A54925945C9F}"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6167ED5-47A3-4E02-B850-552A9B1EE6FB}" type="datetime1">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CBCDBC5-4E49-49CB-B926-A54925945C9F}"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C9F433-8288-4ED4-8E97-8858660DD54A}" type="datetime1">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CBCDBC5-4E49-49CB-B926-A54925945C9F}"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24274F8-F714-4827-AAAF-8C2B5428C7F9}"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BCDBC5-4E49-49CB-B926-A54925945C9F}"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57C38B0-21BB-436E-9C0D-105AFE1E17E6}"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BCDBC5-4E49-49CB-B926-A54925945C9F}"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DDFF6650-C4E0-4C75-BF74-F1476EE9AD09}"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BCDBC5-4E49-49CB-B926-A54925945C9F}"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24587C32-AB6D-4453-A325-945CB9690CEC}"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BCDBC5-4E49-49CB-B926-A54925945C9F}"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D7BB4A-B85B-4C41-881C-B77D03003C4C}" type="datetime1">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BCDBC5-4E49-49CB-B926-A54925945C9F}"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7.xml"/><Relationship Id="rId5" Type="http://schemas.microsoft.com/office/2007/relationships/hdphoto" Target="../media/image5.wdp"/><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hyperlink" Target="https://www.jto.org/article/S1556-0864%2821%2902391-1/fulltext" TargetMode="Externa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ieeexplore.ieee.org/abstract/document/10762221" TargetMode="External"/><Relationship Id="rId2" Type="http://schemas.openxmlformats.org/officeDocument/2006/relationships/hyperlink" Target="https://www.thelancet.com/journals/eclinm/article/PIIS2589-5370(24)00285-2/fulltext" TargetMode="External"/><Relationship Id="rId1" Type="http://schemas.openxmlformats.org/officeDocument/2006/relationships/hyperlink" Target="https://www.embopress.org/doi/full/10.1038/s44321-024-00175-2" TargetMode="Externa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journals.lww.com/co-oncology/abstract/2025/01000/lung_cancer_screening_in_never_smokers.13.aspx" TargetMode="External"/><Relationship Id="rId1" Type="http://schemas.openxmlformats.org/officeDocument/2006/relationships/hyperlink" Target="https://doi.org/10.32734/sumej.v8i1.18763" TargetMode="Externa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www.sciencedirect.com/science/article/pii/S1556086421023911"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43255" y="1111885"/>
            <a:ext cx="10950575" cy="1912620"/>
          </a:xfrm>
          <a:prstGeom prst="rect">
            <a:avLst/>
          </a:prstGeom>
        </p:spPr>
        <p:txBody>
          <a:bodyPr lIns="0" tIns="0" rIns="0" bIns="0" rtlCol="0" anchor="t">
            <a:noAutofit/>
          </a:bodyPr>
          <a:lstStyle/>
          <a:p>
            <a:pPr algn="ctr">
              <a:lnSpc>
                <a:spcPts val="3825"/>
              </a:lnSpc>
              <a:spcBef>
                <a:spcPct val="0"/>
              </a:spcBef>
            </a:pPr>
            <a:r>
              <a:rPr lang="en-US" sz="2735" b="1" dirty="0">
                <a:solidFill>
                  <a:srgbClr val="000000"/>
                </a:solidFill>
                <a:latin typeface="Times New Roman" panose="02020603050405020304" pitchFamily="18" charset="0"/>
                <a:ea typeface="Canva Sans Bold"/>
                <a:cs typeface="Times New Roman" panose="02020603050405020304" pitchFamily="18" charset="0"/>
                <a:sym typeface="Canva Sans Bold"/>
              </a:rPr>
              <a:t>Lung Cancer Early Detection System for Non-Smokers Using Machine Learning</a:t>
            </a:r>
            <a:endParaRPr lang="en-US" sz="2735" b="1" dirty="0">
              <a:solidFill>
                <a:srgbClr val="000000"/>
              </a:solidFill>
              <a:latin typeface="Times New Roman" panose="02020603050405020304" pitchFamily="18" charset="0"/>
              <a:ea typeface="Canva Sans Bold"/>
              <a:cs typeface="Times New Roman" panose="02020603050405020304" pitchFamily="18" charset="0"/>
              <a:sym typeface="Canva Sans Bold"/>
            </a:endParaRPr>
          </a:p>
        </p:txBody>
      </p:sp>
      <p:sp>
        <p:nvSpPr>
          <p:cNvPr id="4" name="TextBox 4"/>
          <p:cNvSpPr txBox="1"/>
          <p:nvPr/>
        </p:nvSpPr>
        <p:spPr>
          <a:xfrm>
            <a:off x="3283585" y="2420620"/>
            <a:ext cx="5930900" cy="365760"/>
          </a:xfrm>
          <a:prstGeom prst="rect">
            <a:avLst/>
          </a:prstGeom>
        </p:spPr>
        <p:txBody>
          <a:bodyPr lIns="0" tIns="0" rIns="0" bIns="0" rtlCol="0" anchor="t">
            <a:noAutofit/>
          </a:bodyPr>
          <a:lstStyle/>
          <a:p>
            <a:pPr algn="ctr">
              <a:lnSpc>
                <a:spcPts val="3175"/>
              </a:lnSpc>
              <a:spcBef>
                <a:spcPct val="0"/>
              </a:spcBef>
            </a:pPr>
            <a:r>
              <a:rPr lang="en-US" b="1" dirty="0">
                <a:solidFill>
                  <a:srgbClr val="0F3460"/>
                </a:solidFill>
                <a:latin typeface="Times New Roman" panose="02020603050405020304" pitchFamily="18" charset="0"/>
                <a:sym typeface="+mn-ea"/>
              </a:rPr>
              <a:t>GitHub: </a:t>
            </a:r>
            <a:r>
              <a:rPr lang="en-US" dirty="0">
                <a:solidFill>
                  <a:srgbClr val="0F3460"/>
                </a:solidFill>
                <a:latin typeface="Times New Roman" panose="02020603050405020304" pitchFamily="18" charset="0"/>
                <a:sym typeface="+mn-ea"/>
              </a:rPr>
              <a:t>github.com/hemu-08/lung-cancer-detection</a:t>
            </a:r>
            <a:endParaRPr lang="en-US" dirty="0">
              <a:solidFill>
                <a:srgbClr val="0F3460"/>
              </a:solidFill>
              <a:latin typeface="Times New Roman" panose="02020603050405020304" pitchFamily="18" charset="0"/>
            </a:endParaRPr>
          </a:p>
          <a:p>
            <a:pPr algn="ctr">
              <a:lnSpc>
                <a:spcPts val="3175"/>
              </a:lnSpc>
              <a:spcBef>
                <a:spcPct val="0"/>
              </a:spcBef>
            </a:pPr>
            <a:endParaRPr lang="en-US" sz="2265" dirty="0">
              <a:solidFill>
                <a:srgbClr val="000000"/>
              </a:solidFill>
              <a:latin typeface="Times New Roman" panose="02020603050405020304" pitchFamily="18" charset="0"/>
              <a:ea typeface="Canva Sans"/>
              <a:cs typeface="Times New Roman" panose="02020603050405020304" pitchFamily="18" charset="0"/>
              <a:sym typeface="Canva Sans"/>
            </a:endParaRPr>
          </a:p>
          <a:p>
            <a:pPr>
              <a:buNone/>
            </a:pPr>
            <a:endParaRPr lang="en-US" sz="1800" dirty="0">
              <a:solidFill>
                <a:srgbClr val="0F3460"/>
              </a:solidFill>
              <a:latin typeface="Times New Roman" panose="02020603050405020304" pitchFamily="18" charset="0"/>
            </a:endParaRPr>
          </a:p>
        </p:txBody>
      </p:sp>
      <p:sp>
        <p:nvSpPr>
          <p:cNvPr id="6" name="TextBox 6"/>
          <p:cNvSpPr txBox="1"/>
          <p:nvPr/>
        </p:nvSpPr>
        <p:spPr>
          <a:xfrm>
            <a:off x="4015598" y="4872876"/>
            <a:ext cx="4820146" cy="363220"/>
          </a:xfrm>
          <a:prstGeom prst="rect">
            <a:avLst/>
          </a:prstGeom>
        </p:spPr>
        <p:txBody>
          <a:bodyPr lIns="0" tIns="0" rIns="0" bIns="0" rtlCol="0" anchor="t">
            <a:spAutoFit/>
          </a:bodyPr>
          <a:lstStyle/>
          <a:p>
            <a:pPr algn="ctr">
              <a:lnSpc>
                <a:spcPts val="2835"/>
              </a:lnSpc>
            </a:pPr>
            <a:r>
              <a:rPr lang="en-US" sz="1665" dirty="0">
                <a:solidFill>
                  <a:srgbClr val="000000"/>
                </a:solidFill>
                <a:latin typeface="Times New Roman" panose="02020603050405020304" pitchFamily="18" charset="0"/>
                <a:ea typeface="Canva Sans"/>
                <a:cs typeface="Times New Roman" panose="02020603050405020304" pitchFamily="18" charset="0"/>
                <a:sym typeface="Canva Sans"/>
              </a:rPr>
              <a:t> </a:t>
            </a:r>
            <a:r>
              <a:rPr lang="en-US" sz="1665" b="1" dirty="0">
                <a:solidFill>
                  <a:srgbClr val="000000"/>
                </a:solidFill>
                <a:latin typeface="Times New Roman" panose="02020603050405020304" pitchFamily="18" charset="0"/>
                <a:ea typeface="Canva Sans"/>
                <a:cs typeface="Times New Roman" panose="02020603050405020304" pitchFamily="18" charset="0"/>
                <a:sym typeface="Canva Sans"/>
              </a:rPr>
              <a:t>Project done by:  </a:t>
            </a:r>
            <a:r>
              <a:rPr lang="fi-FI" sz="1665" dirty="0">
                <a:solidFill>
                  <a:srgbClr val="000000"/>
                </a:solidFill>
                <a:latin typeface="Times New Roman" panose="02020603050405020304" pitchFamily="18" charset="0"/>
                <a:ea typeface="Canva Sans"/>
                <a:cs typeface="Times New Roman" panose="02020603050405020304" pitchFamily="18" charset="0"/>
                <a:sym typeface="Canva Sans"/>
              </a:rPr>
              <a:t>Pallapothu Hemanya Sai   </a:t>
            </a:r>
            <a:endParaRPr lang="en-US" sz="1665" dirty="0">
              <a:solidFill>
                <a:srgbClr val="000000"/>
              </a:solidFill>
              <a:latin typeface="Times New Roman" panose="02020603050405020304" pitchFamily="18" charset="0"/>
              <a:ea typeface="Canva Sans"/>
              <a:cs typeface="Times New Roman" panose="02020603050405020304" pitchFamily="18" charset="0"/>
              <a:sym typeface="Canv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CBCDBC5-4E49-49CB-B926-A54925945C9F}" type="slidenum">
              <a:rPr lang="en-IN" smtClean="0"/>
            </a:fld>
            <a:endParaRPr lang="en-IN"/>
          </a:p>
        </p:txBody>
      </p:sp>
      <p:sp>
        <p:nvSpPr>
          <p:cNvPr id="3" name="Title 5"/>
          <p:cNvSpPr txBox="1"/>
          <p:nvPr/>
        </p:nvSpPr>
        <p:spPr>
          <a:xfrm>
            <a:off x="332621" y="308832"/>
            <a:ext cx="11263311" cy="8762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Garamond" panose="02020404030301010803" pitchFamily="18" charset="0"/>
              </a:rPr>
              <a:t>Problem Statement &amp; Motivation</a:t>
            </a:r>
            <a:endParaRPr lang="en-US" dirty="0">
              <a:latin typeface="Garamond" panose="02020404030301010803" pitchFamily="18" charset="0"/>
            </a:endParaRPr>
          </a:p>
        </p:txBody>
      </p:sp>
      <p:sp>
        <p:nvSpPr>
          <p:cNvPr id="5" name="TextBox 4"/>
          <p:cNvSpPr txBox="1"/>
          <p:nvPr/>
        </p:nvSpPr>
        <p:spPr>
          <a:xfrm>
            <a:off x="1009889" y="1084636"/>
            <a:ext cx="10472195" cy="461665"/>
          </a:xfrm>
          <a:prstGeom prst="rect">
            <a:avLst/>
          </a:prstGeom>
          <a:noFill/>
        </p:spPr>
        <p:txBody>
          <a:bodyPr wrap="square">
            <a:spAutoFit/>
          </a:bodyPr>
          <a:lstStyle/>
          <a:p>
            <a:r>
              <a:rPr lang="en-US" sz="2400" b="1" i="1" dirty="0"/>
              <a:t>Why Early Detection of Lung Cancer in Non-Smokers Needs a New Approach ?</a:t>
            </a:r>
            <a:endParaRPr lang="en-IN" sz="2400" b="1" i="1" dirty="0"/>
          </a:p>
        </p:txBody>
      </p:sp>
      <p:sp>
        <p:nvSpPr>
          <p:cNvPr id="7" name="TextBox 6"/>
          <p:cNvSpPr txBox="1"/>
          <p:nvPr/>
        </p:nvSpPr>
        <p:spPr>
          <a:xfrm>
            <a:off x="332621" y="1782395"/>
            <a:ext cx="5763375" cy="2462213"/>
          </a:xfrm>
          <a:prstGeom prst="rect">
            <a:avLst/>
          </a:prstGeom>
          <a:noFill/>
        </p:spPr>
        <p:txBody>
          <a:bodyPr wrap="square">
            <a:spAutoFit/>
          </a:bodyPr>
          <a:lstStyle/>
          <a:p>
            <a:pPr>
              <a:lnSpc>
                <a:spcPct val="150000"/>
              </a:lnSpc>
              <a:buNone/>
            </a:pPr>
            <a:r>
              <a:rPr lang="en-US" sz="2000" b="1" dirty="0"/>
              <a:t>Current Problem:</a:t>
            </a:r>
            <a:endParaRPr lang="en-US" sz="2000" b="1" dirty="0"/>
          </a:p>
          <a:p>
            <a:pPr marL="285750" indent="-285750">
              <a:lnSpc>
                <a:spcPct val="150000"/>
              </a:lnSpc>
              <a:buFont typeface="Arial" panose="020B0604020202020204" pitchFamily="34" charset="0"/>
              <a:buChar char="•"/>
            </a:pPr>
            <a:r>
              <a:rPr lang="en-US" sz="1600" dirty="0"/>
              <a:t>Lung cancer in never-smokers is rising</a:t>
            </a:r>
            <a:endParaRPr lang="en-US" sz="1600" dirty="0"/>
          </a:p>
          <a:p>
            <a:endParaRPr lang="en-US" sz="1600" dirty="0"/>
          </a:p>
          <a:p>
            <a:pPr marL="285750" indent="-285750">
              <a:buFont typeface="Arial" panose="020B0604020202020204" pitchFamily="34" charset="0"/>
              <a:buChar char="•"/>
            </a:pPr>
            <a:r>
              <a:rPr lang="en-US" sz="1600" dirty="0"/>
              <a:t>Often diagnosed late due to non-specific symptoms</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Existing screening tools don’t target non-smokers</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Lack of early, personalized detection methods</a:t>
            </a:r>
            <a:endParaRPr lang="en-US" sz="1600" dirty="0"/>
          </a:p>
        </p:txBody>
      </p:sp>
      <p:sp>
        <p:nvSpPr>
          <p:cNvPr id="16" name="TextBox 15"/>
          <p:cNvSpPr txBox="1"/>
          <p:nvPr/>
        </p:nvSpPr>
        <p:spPr>
          <a:xfrm>
            <a:off x="332621" y="4605915"/>
            <a:ext cx="6094070" cy="461665"/>
          </a:xfrm>
          <a:prstGeom prst="rect">
            <a:avLst/>
          </a:prstGeom>
          <a:noFill/>
        </p:spPr>
        <p:txBody>
          <a:bodyPr wrap="square">
            <a:spAutoFit/>
          </a:bodyPr>
          <a:lstStyle/>
          <a:p>
            <a:r>
              <a:rPr lang="en-IN" sz="2400" b="1" dirty="0"/>
              <a:t>Our Direction</a:t>
            </a:r>
            <a:endParaRPr lang="en-IN" sz="2400" b="1" dirty="0"/>
          </a:p>
        </p:txBody>
      </p:sp>
      <p:sp>
        <p:nvSpPr>
          <p:cNvPr id="17" name="Rectangle: Rounded Corners 16"/>
          <p:cNvSpPr/>
          <p:nvPr/>
        </p:nvSpPr>
        <p:spPr>
          <a:xfrm>
            <a:off x="471108" y="5203179"/>
            <a:ext cx="1901702" cy="4232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Machine Learning</a:t>
            </a:r>
            <a:endParaRPr lang="en-IN" b="1" dirty="0"/>
          </a:p>
        </p:txBody>
      </p:sp>
      <p:sp>
        <p:nvSpPr>
          <p:cNvPr id="18" name="Rectangle: Rounded Corners 17"/>
          <p:cNvSpPr/>
          <p:nvPr/>
        </p:nvSpPr>
        <p:spPr>
          <a:xfrm>
            <a:off x="2940251" y="5176821"/>
            <a:ext cx="2370015" cy="4374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Clinical Symptoms</a:t>
            </a:r>
            <a:endParaRPr lang="en-IN" b="1" dirty="0"/>
          </a:p>
        </p:txBody>
      </p:sp>
      <p:sp>
        <p:nvSpPr>
          <p:cNvPr id="19" name="Rectangle: Rounded Corners 18"/>
          <p:cNvSpPr/>
          <p:nvPr/>
        </p:nvSpPr>
        <p:spPr>
          <a:xfrm>
            <a:off x="5877707" y="5164727"/>
            <a:ext cx="2103797" cy="4616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Clinical Notes</a:t>
            </a:r>
            <a:endParaRPr lang="en-IN" b="1" dirty="0"/>
          </a:p>
        </p:txBody>
      </p:sp>
      <p:sp>
        <p:nvSpPr>
          <p:cNvPr id="25" name="TextBox 24"/>
          <p:cNvSpPr txBox="1"/>
          <p:nvPr/>
        </p:nvSpPr>
        <p:spPr>
          <a:xfrm>
            <a:off x="8435049" y="5771915"/>
            <a:ext cx="6094070" cy="400110"/>
          </a:xfrm>
          <a:prstGeom prst="rect">
            <a:avLst/>
          </a:prstGeom>
          <a:noFill/>
        </p:spPr>
        <p:txBody>
          <a:bodyPr wrap="square">
            <a:spAutoFit/>
          </a:bodyPr>
          <a:lstStyle/>
          <a:p>
            <a:r>
              <a:rPr lang="en-IN" sz="2000" b="1" dirty="0"/>
              <a:t>Explainable Early Detection</a:t>
            </a:r>
            <a:endParaRPr lang="en-IN" sz="2000" b="1" dirty="0"/>
          </a:p>
        </p:txBody>
      </p:sp>
      <p:pic>
        <p:nvPicPr>
          <p:cNvPr id="27" name="Picture 26"/>
          <p:cNvPicPr>
            <a:picLocks noChangeAspect="1"/>
          </p:cNvPicPr>
          <p:nvPr/>
        </p:nvPicPr>
        <p:blipFill>
          <a:blip r:embed="rId1"/>
          <a:stretch>
            <a:fillRect/>
          </a:stretch>
        </p:blipFill>
        <p:spPr>
          <a:xfrm>
            <a:off x="9324399" y="4557538"/>
            <a:ext cx="1214377" cy="1214377"/>
          </a:xfrm>
          <a:prstGeom prst="rect">
            <a:avLst/>
          </a:prstGeom>
        </p:spPr>
      </p:pic>
      <p:pic>
        <p:nvPicPr>
          <p:cNvPr id="33" name="Picture 32"/>
          <p:cNvPicPr>
            <a:picLocks noChangeAspect="1"/>
          </p:cNvPicPr>
          <p:nvPr/>
        </p:nvPicPr>
        <p:blipFill>
          <a:blip r:embed="rId2"/>
          <a:stretch>
            <a:fillRect/>
          </a:stretch>
        </p:blipFill>
        <p:spPr>
          <a:xfrm>
            <a:off x="5704022" y="2139583"/>
            <a:ext cx="5276850" cy="2105025"/>
          </a:xfrm>
          <a:prstGeom prst="rect">
            <a:avLst/>
          </a:prstGeom>
        </p:spPr>
      </p:pic>
      <p:sp>
        <p:nvSpPr>
          <p:cNvPr id="37" name="TextBox 36"/>
          <p:cNvSpPr txBox="1"/>
          <p:nvPr/>
        </p:nvSpPr>
        <p:spPr>
          <a:xfrm>
            <a:off x="5877707" y="2107839"/>
            <a:ext cx="7320986" cy="1993110"/>
          </a:xfrm>
          <a:prstGeom prst="rect">
            <a:avLst/>
          </a:prstGeom>
          <a:noFill/>
        </p:spPr>
        <p:txBody>
          <a:bodyPr wrap="square">
            <a:spAutoFit/>
          </a:bodyPr>
          <a:lstStyle/>
          <a:p>
            <a:pPr marL="0" algn="l" rtl="0" eaLnBrk="1" latinLnBrk="0" hangingPunct="1">
              <a:lnSpc>
                <a:spcPct val="150000"/>
              </a:lnSpc>
              <a:buNone/>
            </a:pPr>
            <a:r>
              <a:rPr lang="en-US" sz="2000" b="1" kern="1200" dirty="0">
                <a:solidFill>
                  <a:srgbClr val="000000"/>
                </a:solidFill>
                <a:effectLst/>
                <a:latin typeface="Calibri" panose="020F0502020204030204" pitchFamily="34" charset="0"/>
                <a:ea typeface="+mn-ea"/>
                <a:cs typeface="+mn-cs"/>
              </a:rPr>
              <a:t>Why This Matters</a:t>
            </a:r>
            <a:endParaRPr lang="en-IN" sz="1600" dirty="0">
              <a:effectLst/>
            </a:endParaRPr>
          </a:p>
          <a:p>
            <a:pPr marL="285750" indent="-285750" algn="l" rtl="0" eaLnBrk="1" latinLnBrk="0" hangingPunct="1">
              <a:lnSpc>
                <a:spcPct val="150000"/>
              </a:lnSpc>
              <a:buFont typeface="Arial" panose="020B0604020202020204" pitchFamily="34" charset="0"/>
              <a:buChar char="•"/>
            </a:pPr>
            <a:r>
              <a:rPr lang="en-US" sz="1600" kern="1200" dirty="0">
                <a:solidFill>
                  <a:srgbClr val="000000"/>
                </a:solidFill>
                <a:effectLst/>
                <a:latin typeface="Calibri" panose="020F0502020204030204" pitchFamily="34" charset="0"/>
                <a:ea typeface="+mn-ea"/>
                <a:cs typeface="+mn-cs"/>
              </a:rPr>
              <a:t>Clinical notes contains unnoticed early clues</a:t>
            </a:r>
            <a:endParaRPr lang="en-IN" sz="1600" dirty="0">
              <a:effectLst/>
            </a:endParaRPr>
          </a:p>
          <a:p>
            <a:pPr marL="285750" indent="-285750" algn="l" rtl="0" eaLnBrk="1" latinLnBrk="0" hangingPunct="1">
              <a:lnSpc>
                <a:spcPct val="150000"/>
              </a:lnSpc>
              <a:buFont typeface="Arial" panose="020B0604020202020204" pitchFamily="34" charset="0"/>
              <a:buChar char="•"/>
            </a:pPr>
            <a:r>
              <a:rPr lang="en-US" sz="1600" kern="1200" dirty="0">
                <a:solidFill>
                  <a:srgbClr val="000000"/>
                </a:solidFill>
                <a:effectLst/>
                <a:latin typeface="Calibri" panose="020F0502020204030204" pitchFamily="34" charset="0"/>
                <a:ea typeface="+mn-ea"/>
                <a:cs typeface="+mn-cs"/>
              </a:rPr>
              <a:t>Clinical symptoms contain hidden early risk patterns</a:t>
            </a:r>
            <a:endParaRPr lang="en-IN" sz="1600" dirty="0">
              <a:effectLst/>
            </a:endParaRPr>
          </a:p>
          <a:p>
            <a:pPr marL="285750" indent="-285750" algn="l" rtl="0" eaLnBrk="1" latinLnBrk="0" hangingPunct="1">
              <a:lnSpc>
                <a:spcPct val="150000"/>
              </a:lnSpc>
              <a:buFont typeface="Arial" panose="020B0604020202020204" pitchFamily="34" charset="0"/>
              <a:buChar char="•"/>
            </a:pPr>
            <a:r>
              <a:rPr lang="en-US" sz="1600" kern="1200" dirty="0">
                <a:solidFill>
                  <a:srgbClr val="000000"/>
                </a:solidFill>
                <a:effectLst/>
                <a:latin typeface="Calibri" panose="020F0502020204030204" pitchFamily="34" charset="0"/>
                <a:ea typeface="+mn-ea"/>
                <a:cs typeface="+mn-cs"/>
              </a:rPr>
              <a:t>ML models can detect patterns faster than manual screening</a:t>
            </a:r>
            <a:endParaRPr lang="en-IN" sz="1600" dirty="0">
              <a:effectLst/>
            </a:endParaRPr>
          </a:p>
          <a:p>
            <a:pPr marL="285750" indent="-285750" algn="l" rtl="0" eaLnBrk="1" latinLnBrk="0" hangingPunct="1">
              <a:lnSpc>
                <a:spcPct val="150000"/>
              </a:lnSpc>
              <a:buFont typeface="Arial" panose="020B0604020202020204" pitchFamily="34" charset="0"/>
              <a:buChar char="•"/>
            </a:pPr>
            <a:r>
              <a:rPr lang="en-US" sz="1600" kern="1200" dirty="0">
                <a:solidFill>
                  <a:srgbClr val="000000"/>
                </a:solidFill>
                <a:effectLst/>
                <a:latin typeface="Calibri" panose="020F0502020204030204" pitchFamily="34" charset="0"/>
                <a:ea typeface="+mn-ea"/>
                <a:cs typeface="+mn-cs"/>
              </a:rPr>
              <a:t>Early detection = better survival, less invasive treatment</a:t>
            </a:r>
            <a:endParaRPr lang="en-IN" sz="1600" dirty="0">
              <a:effectLst/>
            </a:endParaRPr>
          </a:p>
        </p:txBody>
      </p:sp>
      <p:pic>
        <p:nvPicPr>
          <p:cNvPr id="39" name="Picture 38"/>
          <p:cNvPicPr>
            <a:picLocks noChangeAspect="1"/>
          </p:cNvPicPr>
          <p:nvPr/>
        </p:nvPicPr>
        <p:blipFill>
          <a:blip r:embed="rId3"/>
          <a:stretch>
            <a:fillRect/>
          </a:stretch>
        </p:blipFill>
        <p:spPr>
          <a:xfrm>
            <a:off x="2519542" y="5291727"/>
            <a:ext cx="274320" cy="274320"/>
          </a:xfrm>
          <a:prstGeom prst="rect">
            <a:avLst/>
          </a:prstGeom>
        </p:spPr>
      </p:pic>
      <p:pic>
        <p:nvPicPr>
          <p:cNvPr id="40" name="Picture 39"/>
          <p:cNvPicPr>
            <a:picLocks noChangeAspect="1"/>
          </p:cNvPicPr>
          <p:nvPr/>
        </p:nvPicPr>
        <p:blipFill>
          <a:blip r:embed="rId3"/>
          <a:stretch>
            <a:fillRect/>
          </a:stretch>
        </p:blipFill>
        <p:spPr>
          <a:xfrm>
            <a:off x="5456655" y="5303759"/>
            <a:ext cx="274320" cy="274320"/>
          </a:xfrm>
          <a:prstGeom prst="rect">
            <a:avLst/>
          </a:prstGeom>
        </p:spPr>
      </p:pic>
      <p:pic>
        <p:nvPicPr>
          <p:cNvPr id="42" name="Picture 41"/>
          <p:cNvPicPr>
            <a:picLocks noChangeAspect="1"/>
          </p:cNvPicPr>
          <p:nvPr/>
        </p:nvPicPr>
        <p:blipFill>
          <a:blip r:embed="rId4">
            <a:extLst>
              <a:ext uri="{BEBA8EAE-BF5A-486C-A8C5-ECC9F3942E4B}">
                <a14:imgProps xmlns:a14="http://schemas.microsoft.com/office/drawing/2010/main">
                  <a14:imgLayer r:embed="rId5">
                    <a14:imgEffect>
                      <a14:colorTemperature colorTemp="11200"/>
                    </a14:imgEffect>
                    <a14:imgEffect>
                      <a14:saturation sat="66000"/>
                    </a14:imgEffect>
                  </a14:imgLayer>
                </a14:imgProps>
              </a:ext>
            </a:extLst>
          </a:blip>
          <a:stretch>
            <a:fillRect/>
          </a:stretch>
        </p:blipFill>
        <p:spPr>
          <a:xfrm>
            <a:off x="8202068" y="5275076"/>
            <a:ext cx="307622" cy="3076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CBCDBC5-4E49-49CB-B926-A54925945C9F}" type="slidenum">
              <a:rPr lang="en-IN" smtClean="0"/>
            </a:fld>
            <a:endParaRPr lang="en-IN"/>
          </a:p>
        </p:txBody>
      </p:sp>
      <p:sp>
        <p:nvSpPr>
          <p:cNvPr id="3" name="Title 5"/>
          <p:cNvSpPr txBox="1"/>
          <p:nvPr/>
        </p:nvSpPr>
        <p:spPr>
          <a:xfrm>
            <a:off x="332621" y="308832"/>
            <a:ext cx="11263311" cy="8762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Garamond" panose="02020404030301010803" pitchFamily="18" charset="0"/>
              </a:rPr>
              <a:t>Project Objectives</a:t>
            </a:r>
            <a:endParaRPr lang="en-US" dirty="0">
              <a:latin typeface="Garamond" panose="02020404030301010803" pitchFamily="18" charset="0"/>
            </a:endParaRPr>
          </a:p>
        </p:txBody>
      </p:sp>
      <p:sp>
        <p:nvSpPr>
          <p:cNvPr id="19" name="Rectangle: Rounded Corners 18"/>
          <p:cNvSpPr/>
          <p:nvPr/>
        </p:nvSpPr>
        <p:spPr>
          <a:xfrm>
            <a:off x="237958" y="1801993"/>
            <a:ext cx="6460177" cy="3635532"/>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332621" y="1913031"/>
            <a:ext cx="8371990" cy="3083921"/>
          </a:xfrm>
          <a:prstGeom prst="rect">
            <a:avLst/>
          </a:prstGeom>
          <a:noFill/>
        </p:spPr>
        <p:txBody>
          <a:bodyPr wrap="square">
            <a:spAutoFit/>
          </a:bodyPr>
          <a:lstStyle/>
          <a:p>
            <a:pPr marL="342900" indent="-342900">
              <a:lnSpc>
                <a:spcPct val="200000"/>
              </a:lnSpc>
              <a:buFont typeface="Wingdings" panose="05000000000000000000" pitchFamily="2" charset="2"/>
              <a:buChar char="Ø"/>
            </a:pPr>
            <a:r>
              <a:rPr lang="en-US" sz="2000" dirty="0"/>
              <a:t>Enable </a:t>
            </a:r>
            <a:r>
              <a:rPr lang="en-US" sz="2000" b="1" dirty="0"/>
              <a:t>early detection </a:t>
            </a:r>
            <a:r>
              <a:rPr lang="en-US" sz="2000" dirty="0"/>
              <a:t>of lung cancer in never-smokers.</a:t>
            </a:r>
            <a:endParaRPr lang="en-US" sz="2000" dirty="0"/>
          </a:p>
          <a:p>
            <a:pPr marL="342900" indent="-342900">
              <a:lnSpc>
                <a:spcPct val="200000"/>
              </a:lnSpc>
              <a:buFont typeface="Wingdings" panose="05000000000000000000" pitchFamily="2" charset="2"/>
              <a:buChar char="Ø"/>
            </a:pPr>
            <a:r>
              <a:rPr lang="en-US" sz="2000" dirty="0"/>
              <a:t>Map </a:t>
            </a:r>
            <a:r>
              <a:rPr lang="en-US" sz="2000" b="1" dirty="0"/>
              <a:t>clinical symptoms </a:t>
            </a:r>
            <a:r>
              <a:rPr lang="en-US" sz="2000" dirty="0"/>
              <a:t>to relevant lung cancer genes.</a:t>
            </a:r>
            <a:endParaRPr lang="en-US" sz="2000" dirty="0"/>
          </a:p>
          <a:p>
            <a:pPr marL="342900" indent="-342900">
              <a:lnSpc>
                <a:spcPct val="200000"/>
              </a:lnSpc>
              <a:buFont typeface="Wingdings" panose="05000000000000000000" pitchFamily="2" charset="2"/>
              <a:buChar char="Ø"/>
            </a:pPr>
            <a:r>
              <a:rPr lang="en-US" sz="2000" dirty="0"/>
              <a:t>Build </a:t>
            </a:r>
            <a:r>
              <a:rPr lang="en-US" sz="2000" b="1" dirty="0"/>
              <a:t>interpretable</a:t>
            </a:r>
            <a:r>
              <a:rPr lang="en-US" sz="2000" dirty="0"/>
              <a:t> and </a:t>
            </a:r>
            <a:r>
              <a:rPr lang="en-US" sz="2000" b="1" dirty="0"/>
              <a:t>explainable AI </a:t>
            </a:r>
            <a:r>
              <a:rPr lang="en-US" sz="2000" dirty="0"/>
              <a:t>models.</a:t>
            </a:r>
            <a:endParaRPr lang="en-US" sz="2000" dirty="0"/>
          </a:p>
          <a:p>
            <a:pPr marL="342900" indent="-342900">
              <a:lnSpc>
                <a:spcPct val="200000"/>
              </a:lnSpc>
              <a:buFont typeface="Wingdings" panose="05000000000000000000" pitchFamily="2" charset="2"/>
              <a:buChar char="Ø"/>
            </a:pPr>
            <a:r>
              <a:rPr lang="en-US" sz="2000" dirty="0"/>
              <a:t>Integrate </a:t>
            </a:r>
            <a:r>
              <a:rPr lang="en-US" sz="2000" b="1" dirty="0"/>
              <a:t>clinical notes </a:t>
            </a:r>
            <a:r>
              <a:rPr lang="en-US" sz="2000" dirty="0"/>
              <a:t>and </a:t>
            </a:r>
            <a:r>
              <a:rPr lang="en-US" sz="2000" b="1" dirty="0"/>
              <a:t>clinical symptom data </a:t>
            </a:r>
            <a:r>
              <a:rPr lang="en-US" sz="2000" dirty="0"/>
              <a:t>for prediction.</a:t>
            </a:r>
            <a:endParaRPr lang="en-US" sz="2000" dirty="0"/>
          </a:p>
          <a:p>
            <a:pPr marL="342900" indent="-342900">
              <a:lnSpc>
                <a:spcPct val="200000"/>
              </a:lnSpc>
              <a:buFont typeface="Wingdings" panose="05000000000000000000" pitchFamily="2" charset="2"/>
              <a:buChar char="Ø"/>
            </a:pPr>
            <a:r>
              <a:rPr lang="en-US" sz="2000" dirty="0"/>
              <a:t>Automate the workflow using </a:t>
            </a:r>
            <a:r>
              <a:rPr lang="en-US" sz="2000" b="1" dirty="0"/>
              <a:t>machine learning (Random Forest) </a:t>
            </a:r>
            <a:r>
              <a:rPr lang="en-US" sz="2000" dirty="0"/>
              <a:t>tools.</a:t>
            </a:r>
            <a:endParaRPr lang="en-IN" sz="2000" dirty="0"/>
          </a:p>
        </p:txBody>
      </p:sp>
      <p:sp>
        <p:nvSpPr>
          <p:cNvPr id="13" name="TextBox 12"/>
          <p:cNvSpPr txBox="1"/>
          <p:nvPr/>
        </p:nvSpPr>
        <p:spPr>
          <a:xfrm>
            <a:off x="7560954" y="3738836"/>
            <a:ext cx="3275512" cy="307777"/>
          </a:xfrm>
          <a:prstGeom prst="rect">
            <a:avLst/>
          </a:prstGeom>
          <a:noFill/>
        </p:spPr>
        <p:txBody>
          <a:bodyPr wrap="none" rtlCol="0">
            <a:spAutoFit/>
          </a:bodyPr>
          <a:lstStyle/>
          <a:p>
            <a:r>
              <a:rPr lang="en-IN" sz="1400" dirty="0"/>
              <a:t>Source: </a:t>
            </a:r>
            <a:r>
              <a:rPr lang="en-US" sz="1400" dirty="0">
                <a:hlinkClick r:id="rId1"/>
              </a:rPr>
              <a:t>Journal of Thoracic Oncology 2022</a:t>
            </a:r>
            <a:endParaRPr lang="en-IN" sz="1400" dirty="0"/>
          </a:p>
        </p:txBody>
      </p:sp>
      <p:pic>
        <p:nvPicPr>
          <p:cNvPr id="17" name="Picture 16"/>
          <p:cNvPicPr>
            <a:picLocks noChangeAspect="1"/>
          </p:cNvPicPr>
          <p:nvPr/>
        </p:nvPicPr>
        <p:blipFill>
          <a:blip r:embed="rId2"/>
          <a:stretch>
            <a:fillRect/>
          </a:stretch>
        </p:blipFill>
        <p:spPr>
          <a:xfrm>
            <a:off x="7006051" y="1262731"/>
            <a:ext cx="4120625" cy="2357028"/>
          </a:xfrm>
          <a:prstGeom prst="rect">
            <a:avLst/>
          </a:prstGeom>
        </p:spPr>
      </p:pic>
      <p:sp>
        <p:nvSpPr>
          <p:cNvPr id="20" name="Freeform 4"/>
          <p:cNvSpPr/>
          <p:nvPr/>
        </p:nvSpPr>
        <p:spPr>
          <a:xfrm>
            <a:off x="7245584" y="4169872"/>
            <a:ext cx="3906252" cy="2186478"/>
          </a:xfrm>
          <a:custGeom>
            <a:avLst/>
            <a:gdLst/>
            <a:ahLst/>
            <a:cxnLst/>
            <a:rect l="l" t="t" r="r" b="b"/>
            <a:pathLst>
              <a:path w="5465439" h="3463168">
                <a:moveTo>
                  <a:pt x="0" y="0"/>
                </a:moveTo>
                <a:lnTo>
                  <a:pt x="5465439" y="0"/>
                </a:lnTo>
                <a:lnTo>
                  <a:pt x="5465439" y="3463168"/>
                </a:lnTo>
                <a:lnTo>
                  <a:pt x="0" y="3463168"/>
                </a:lnTo>
                <a:lnTo>
                  <a:pt x="0" y="0"/>
                </a:lnTo>
                <a:close/>
              </a:path>
            </a:pathLst>
          </a:custGeom>
          <a:blipFill>
            <a:blip r:embed="rId3"/>
            <a:stretch>
              <a:fillRect l="-2136"/>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CBCDBC5-4E49-49CB-B926-A54925945C9F}" type="slidenum">
              <a:rPr lang="en-IN" smtClean="0"/>
            </a:fld>
            <a:endParaRPr lang="en-IN"/>
          </a:p>
        </p:txBody>
      </p:sp>
      <p:sp>
        <p:nvSpPr>
          <p:cNvPr id="3" name="Title 5"/>
          <p:cNvSpPr txBox="1"/>
          <p:nvPr/>
        </p:nvSpPr>
        <p:spPr>
          <a:xfrm>
            <a:off x="332621" y="308832"/>
            <a:ext cx="11263311" cy="8762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Garamond" panose="02020404030301010803"/>
              </a:rPr>
              <a:t>Base Paper</a:t>
            </a:r>
            <a:endParaRPr lang="en-US" dirty="0">
              <a:latin typeface="Garamond" panose="02020404030301010803"/>
            </a:endParaRPr>
          </a:p>
        </p:txBody>
      </p:sp>
      <p:sp>
        <p:nvSpPr>
          <p:cNvPr id="6" name="TextBox 5"/>
          <p:cNvSpPr txBox="1"/>
          <p:nvPr/>
        </p:nvSpPr>
        <p:spPr>
          <a:xfrm>
            <a:off x="522514" y="1285627"/>
            <a:ext cx="10831286" cy="646331"/>
          </a:xfrm>
          <a:prstGeom prst="rect">
            <a:avLst/>
          </a:prstGeom>
          <a:noFill/>
        </p:spPr>
        <p:txBody>
          <a:bodyPr wrap="square">
            <a:spAutoFit/>
          </a:bodyPr>
          <a:lstStyle/>
          <a:p>
            <a:pPr algn="just"/>
            <a:r>
              <a:rPr lang="en-US" b="1" i="1" dirty="0"/>
              <a:t>"An early lung cancer diagnosis model for non-smokers incorporating CT imaging analysis and circulating genetically abnormal cells (CACs)"</a:t>
            </a:r>
            <a:endParaRPr lang="en-IN" b="1" i="1" dirty="0"/>
          </a:p>
        </p:txBody>
      </p:sp>
      <p:sp>
        <p:nvSpPr>
          <p:cNvPr id="8" name="Rectangle 2"/>
          <p:cNvSpPr>
            <a:spLocks noChangeArrowheads="1"/>
          </p:cNvSpPr>
          <p:nvPr/>
        </p:nvSpPr>
        <p:spPr bwMode="auto">
          <a:xfrm>
            <a:off x="522514" y="2154518"/>
            <a:ext cx="9216049"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Built AI models using </a:t>
            </a:r>
            <a:r>
              <a:rPr kumimoji="0" lang="en-US" altLang="en-US" sz="1800" b="1" i="0" u="none" strike="noStrike" cap="none" normalizeH="0" baseline="0" dirty="0">
                <a:ln>
                  <a:noFill/>
                </a:ln>
                <a:solidFill>
                  <a:schemeClr val="tx1"/>
                </a:solidFill>
                <a:effectLst/>
                <a:latin typeface="Arial" panose="020B0604020202020204" pitchFamily="34" charset="0"/>
              </a:rPr>
              <a:t>CT imaging + liquid biopsy + clinical features</a:t>
            </a:r>
            <a:r>
              <a:rPr kumimoji="0" lang="en-US" altLang="en-US" sz="1800" b="0" i="0" u="none" strike="noStrike" cap="none" normalizeH="0" baseline="0" dirty="0">
                <a:ln>
                  <a:noFill/>
                </a:ln>
                <a:solidFill>
                  <a:schemeClr val="tx1"/>
                </a:solidFill>
                <a:effectLst/>
                <a:latin typeface="Arial" panose="020B0604020202020204" pitchFamily="34" charset="0"/>
              </a:rPr>
              <a:t> for non-smokers.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Achieved </a:t>
            </a:r>
            <a:r>
              <a:rPr kumimoji="0" lang="en-US" altLang="en-US" sz="1800" b="1" i="0" u="none" strike="noStrike" cap="none" normalizeH="0" baseline="0" dirty="0">
                <a:ln>
                  <a:noFill/>
                </a:ln>
                <a:solidFill>
                  <a:schemeClr val="tx1"/>
                </a:solidFill>
                <a:effectLst/>
                <a:latin typeface="Arial" panose="020B0604020202020204" pitchFamily="34" charset="0"/>
              </a:rPr>
              <a:t>AUC = 0.99, sensitivity 92%, specificity 97%</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Limitation:</a:t>
            </a:r>
            <a:r>
              <a:rPr kumimoji="0" lang="en-US" altLang="en-US" sz="1800" b="0" i="0" u="none" strike="noStrike" cap="none" normalizeH="0" baseline="0" dirty="0">
                <a:ln>
                  <a:noFill/>
                </a:ln>
                <a:solidFill>
                  <a:schemeClr val="tx1"/>
                </a:solidFill>
                <a:effectLst/>
                <a:latin typeface="Arial" panose="020B0604020202020204" pitchFamily="34" charset="0"/>
              </a:rPr>
              <a:t> Does not use </a:t>
            </a:r>
            <a:r>
              <a:rPr kumimoji="0" lang="en-US" altLang="en-US" sz="1800" b="1" i="0" u="none" strike="noStrike" cap="none" normalizeH="0" baseline="0" dirty="0">
                <a:ln>
                  <a:noFill/>
                </a:ln>
                <a:solidFill>
                  <a:schemeClr val="tx1"/>
                </a:solidFill>
                <a:effectLst/>
                <a:latin typeface="Arial" panose="020B0604020202020204" pitchFamily="34" charset="0"/>
              </a:rPr>
              <a:t>unstructured clinical notes</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agentic AI</a:t>
            </a:r>
            <a:r>
              <a:rPr kumimoji="0" lang="en-US" altLang="en-US" sz="1800" b="0" i="0" u="none" strike="noStrike" cap="none" normalizeH="0" baseline="0" dirty="0">
                <a:ln>
                  <a:noFill/>
                </a:ln>
                <a:solidFill>
                  <a:schemeClr val="tx1"/>
                </a:solidFill>
                <a:effectLst/>
                <a:latin typeface="Arial" panose="020B0604020202020204" pitchFamily="34" charset="0"/>
              </a:rPr>
              <a:t> for explainability.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p:cNvSpPr txBox="1"/>
          <p:nvPr/>
        </p:nvSpPr>
        <p:spPr>
          <a:xfrm>
            <a:off x="3884364" y="1562626"/>
            <a:ext cx="6097836" cy="369332"/>
          </a:xfrm>
          <a:prstGeom prst="rect">
            <a:avLst/>
          </a:prstGeom>
          <a:noFill/>
        </p:spPr>
        <p:txBody>
          <a:bodyPr wrap="square">
            <a:spAutoFit/>
          </a:bodyPr>
          <a:lstStyle/>
          <a:p>
            <a:r>
              <a:rPr lang="en-IN" dirty="0"/>
              <a:t>https://pubmed.ncbi.nlm.nih.gov/39844169/</a:t>
            </a:r>
            <a:endParaRPr lang="en-IN" dirty="0"/>
          </a:p>
        </p:txBody>
      </p:sp>
      <p:sp>
        <p:nvSpPr>
          <p:cNvPr id="12" name="TextBox 11"/>
          <p:cNvSpPr txBox="1"/>
          <p:nvPr/>
        </p:nvSpPr>
        <p:spPr>
          <a:xfrm>
            <a:off x="522514" y="3409132"/>
            <a:ext cx="8626860" cy="2445285"/>
          </a:xfrm>
          <a:prstGeom prst="rect">
            <a:avLst/>
          </a:prstGeom>
          <a:noFill/>
        </p:spPr>
        <p:txBody>
          <a:bodyPr wrap="square">
            <a:spAutoFit/>
          </a:bodyPr>
          <a:lstStyle/>
          <a:p>
            <a:pPr>
              <a:lnSpc>
                <a:spcPct val="200000"/>
              </a:lnSpc>
              <a:buNone/>
            </a:pPr>
            <a:r>
              <a:rPr lang="en-US" sz="2800" b="1" dirty="0"/>
              <a:t>Our Difference</a:t>
            </a:r>
            <a:endParaRPr lang="en-US" sz="2800" dirty="0"/>
          </a:p>
          <a:p>
            <a:pPr>
              <a:lnSpc>
                <a:spcPct val="200000"/>
              </a:lnSpc>
              <a:buFont typeface="Arial" panose="020B0604020202020204" pitchFamily="34" charset="0"/>
              <a:buChar char="•"/>
            </a:pPr>
            <a:r>
              <a:rPr lang="en-US" sz="2000" dirty="0"/>
              <a:t>We integrate </a:t>
            </a:r>
            <a:r>
              <a:rPr lang="en-US" sz="2000" b="1" dirty="0"/>
              <a:t>clinical notes + genomic profiles</a:t>
            </a:r>
            <a:r>
              <a:rPr lang="en-US" sz="2000" dirty="0"/>
              <a:t> (not CT/biopsy).</a:t>
            </a:r>
            <a:endParaRPr lang="en-US" sz="2000" dirty="0"/>
          </a:p>
          <a:p>
            <a:pPr>
              <a:lnSpc>
                <a:spcPct val="150000"/>
              </a:lnSpc>
              <a:buFont typeface="Arial" panose="020B0604020202020204" pitchFamily="34" charset="0"/>
              <a:buChar char="•"/>
            </a:pPr>
            <a:r>
              <a:rPr lang="en-US" sz="2000" dirty="0"/>
              <a:t>Use </a:t>
            </a:r>
            <a:r>
              <a:rPr lang="en-US" sz="2000" b="1" dirty="0"/>
              <a:t>agentic AI</a:t>
            </a:r>
            <a:r>
              <a:rPr lang="en-US" sz="2000" dirty="0"/>
              <a:t> + </a:t>
            </a:r>
            <a:r>
              <a:rPr lang="en-US" sz="2000" b="1" dirty="0"/>
              <a:t>knowledge graphs</a:t>
            </a:r>
            <a:r>
              <a:rPr lang="en-US" sz="2000" dirty="0"/>
              <a:t> for </a:t>
            </a:r>
            <a:r>
              <a:rPr lang="en-US" sz="2000" b="1" dirty="0"/>
              <a:t>explainable predictions</a:t>
            </a:r>
            <a:r>
              <a:rPr lang="en-US" sz="2000" dirty="0"/>
              <a:t>.</a:t>
            </a:r>
            <a:endParaRPr lang="en-US" sz="2000" dirty="0"/>
          </a:p>
          <a:p>
            <a:pPr>
              <a:lnSpc>
                <a:spcPct val="150000"/>
              </a:lnSpc>
              <a:buFont typeface="Arial" panose="020B0604020202020204" pitchFamily="34" charset="0"/>
              <a:buChar char="•"/>
            </a:pPr>
            <a:r>
              <a:rPr lang="en-US" sz="2000" dirty="0"/>
              <a:t>Focus on </a:t>
            </a:r>
            <a:r>
              <a:rPr lang="en-US" sz="2000" b="1" dirty="0"/>
              <a:t>symptom–gene mapping</a:t>
            </a:r>
            <a:r>
              <a:rPr lang="en-US" sz="2000" dirty="0"/>
              <a:t> and </a:t>
            </a:r>
            <a:r>
              <a:rPr lang="en-US" sz="2000" b="1" dirty="0"/>
              <a:t>patient journey interpretation</a:t>
            </a:r>
            <a:r>
              <a:rPr lang="en-US" sz="2000" dirty="0"/>
              <a:t>.</a:t>
            </a:r>
            <a:endParaRPr lang="en-US" sz="2000" dirty="0"/>
          </a:p>
        </p:txBody>
      </p:sp>
      <p:pic>
        <p:nvPicPr>
          <p:cNvPr id="102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22953" y="3645938"/>
            <a:ext cx="3705225" cy="1971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CBCDBC5-4E49-49CB-B926-A54925945C9F}" type="slidenum">
              <a:rPr lang="en-IN" smtClean="0"/>
            </a:fld>
            <a:endParaRPr lang="en-IN"/>
          </a:p>
        </p:txBody>
      </p:sp>
      <p:sp>
        <p:nvSpPr>
          <p:cNvPr id="4" name="TextBox 3"/>
          <p:cNvSpPr txBox="1"/>
          <p:nvPr/>
        </p:nvSpPr>
        <p:spPr>
          <a:xfrm>
            <a:off x="0" y="2078442"/>
            <a:ext cx="10624457" cy="2308324"/>
          </a:xfrm>
          <a:prstGeom prst="rect">
            <a:avLst/>
          </a:prstGeom>
          <a:noFill/>
        </p:spPr>
        <p:txBody>
          <a:bodyPr wrap="square">
            <a:spAutoFit/>
          </a:bodyPr>
          <a:lstStyle/>
          <a:p>
            <a:pPr>
              <a:buNone/>
            </a:pPr>
            <a:br>
              <a:rPr lang="en-US" dirty="0"/>
            </a:br>
            <a:r>
              <a:rPr lang="en-US" b="1" dirty="0"/>
              <a:t>Key Columns:</a:t>
            </a:r>
            <a:endParaRPr lang="en-US" b="1" dirty="0"/>
          </a:p>
          <a:p>
            <a:pPr>
              <a:buNone/>
            </a:pPr>
            <a:endParaRPr lang="en-US" dirty="0"/>
          </a:p>
          <a:p>
            <a:endParaRPr lang="en-US" dirty="0"/>
          </a:p>
          <a:p>
            <a:endParaRPr lang="en-US" dirty="0"/>
          </a:p>
          <a:p>
            <a:endParaRPr lang="en-US" dirty="0"/>
          </a:p>
          <a:p>
            <a:endParaRPr lang="en-US" dirty="0"/>
          </a:p>
          <a:p>
            <a:pPr>
              <a:buFont typeface="Arial" panose="020B0604020202020204" pitchFamily="34" charset="0"/>
              <a:buChar char="•"/>
            </a:pPr>
            <a:endParaRPr lang="en-US" dirty="0"/>
          </a:p>
        </p:txBody>
      </p:sp>
      <p:pic>
        <p:nvPicPr>
          <p:cNvPr id="6" name="Picture 5"/>
          <p:cNvPicPr>
            <a:picLocks noChangeAspect="1"/>
          </p:cNvPicPr>
          <p:nvPr/>
        </p:nvPicPr>
        <p:blipFill>
          <a:blip r:embed="rId1"/>
          <a:stretch>
            <a:fillRect/>
          </a:stretch>
        </p:blipFill>
        <p:spPr>
          <a:xfrm>
            <a:off x="181350" y="2872896"/>
            <a:ext cx="11908350" cy="913022"/>
          </a:xfrm>
          <a:prstGeom prst="rect">
            <a:avLst/>
          </a:prstGeom>
        </p:spPr>
      </p:pic>
      <p:sp>
        <p:nvSpPr>
          <p:cNvPr id="5" name="Title 5"/>
          <p:cNvSpPr txBox="1"/>
          <p:nvPr/>
        </p:nvSpPr>
        <p:spPr>
          <a:xfrm>
            <a:off x="332740" y="308610"/>
            <a:ext cx="6866890" cy="7315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Garamond" panose="02020404030301010803"/>
              </a:rPr>
              <a:t>Dataset Description</a:t>
            </a:r>
            <a:endParaRPr lang="en-US" dirty="0">
              <a:latin typeface="Garamond" panose="02020404030301010803"/>
            </a:endParaRPr>
          </a:p>
        </p:txBody>
      </p:sp>
      <p:sp>
        <p:nvSpPr>
          <p:cNvPr id="9" name="TextBox 8"/>
          <p:cNvSpPr txBox="1"/>
          <p:nvPr/>
        </p:nvSpPr>
        <p:spPr>
          <a:xfrm>
            <a:off x="155120" y="1040073"/>
            <a:ext cx="6123214" cy="1200329"/>
          </a:xfrm>
          <a:prstGeom prst="rect">
            <a:avLst/>
          </a:prstGeom>
          <a:noFill/>
        </p:spPr>
        <p:txBody>
          <a:bodyPr wrap="square">
            <a:spAutoFit/>
          </a:bodyPr>
          <a:lstStyle/>
          <a:p>
            <a:pPr>
              <a:buNone/>
            </a:pPr>
            <a:r>
              <a:rPr lang="en-US" dirty="0"/>
              <a:t>This dataset was synthesized for early detection of lung cancer using </a:t>
            </a:r>
            <a:r>
              <a:rPr lang="en-US" b="1" dirty="0"/>
              <a:t>Python (pandas, numpy, scikit-learn)</a:t>
            </a:r>
            <a:r>
              <a:rPr lang="en-US" dirty="0"/>
              <a:t> with realistic clinical symptom distributions.</a:t>
            </a:r>
            <a:endParaRPr lang="en-US" dirty="0"/>
          </a:p>
          <a:p>
            <a:pPr>
              <a:buFont typeface="Arial" panose="020B0604020202020204" pitchFamily="34" charset="0"/>
              <a:buChar char="•"/>
            </a:pPr>
            <a:r>
              <a:rPr lang="en-US" dirty="0"/>
              <a:t>Total records: </a:t>
            </a:r>
            <a:r>
              <a:rPr lang="en-US" b="1" dirty="0"/>
              <a:t>3000 (1500 cancer, 1500 non-cancer)</a:t>
            </a:r>
            <a:endParaRPr lang="en-US" dirty="0"/>
          </a:p>
          <a:p>
            <a:pPr>
              <a:buFont typeface="Arial" panose="020B0604020202020204" pitchFamily="34" charset="0"/>
              <a:buChar char="•"/>
            </a:pPr>
            <a:r>
              <a:rPr lang="en-US" dirty="0"/>
              <a:t>Model trained: </a:t>
            </a:r>
            <a:r>
              <a:rPr lang="en-US" b="1" dirty="0"/>
              <a:t>Random Forest Classifier — 84% Accuracy</a:t>
            </a:r>
            <a:endParaRPr lang="en-US" dirty="0"/>
          </a:p>
        </p:txBody>
      </p:sp>
      <p:sp>
        <p:nvSpPr>
          <p:cNvPr id="11" name="TextBox 10"/>
          <p:cNvSpPr txBox="1"/>
          <p:nvPr/>
        </p:nvSpPr>
        <p:spPr>
          <a:xfrm>
            <a:off x="252961" y="4253508"/>
            <a:ext cx="5453776" cy="2308324"/>
          </a:xfrm>
          <a:prstGeom prst="rect">
            <a:avLst/>
          </a:prstGeom>
          <a:noFill/>
        </p:spPr>
        <p:txBody>
          <a:bodyPr wrap="square">
            <a:spAutoFit/>
          </a:bodyPr>
          <a:lstStyle/>
          <a:p>
            <a:pPr>
              <a:buFont typeface="Arial" panose="020B0604020202020204" pitchFamily="34" charset="0"/>
              <a:buChar char="•"/>
            </a:pPr>
            <a:r>
              <a:rPr lang="en-US" b="1" dirty="0" err="1"/>
              <a:t>visit_date</a:t>
            </a:r>
            <a:r>
              <a:rPr lang="en-US" dirty="0"/>
              <a:t> – Date and time of hospital/clinic visit.</a:t>
            </a:r>
            <a:endParaRPr lang="en-US" dirty="0"/>
          </a:p>
          <a:p>
            <a:pPr>
              <a:buFont typeface="Arial" panose="020B0604020202020204" pitchFamily="34" charset="0"/>
              <a:buChar char="•"/>
            </a:pPr>
            <a:r>
              <a:rPr lang="en-US" b="1" dirty="0"/>
              <a:t>SMOKING</a:t>
            </a:r>
            <a:r>
              <a:rPr lang="en-US" dirty="0"/>
              <a:t> – Smoking history indicator (0 = non-smoker, higher = severity).</a:t>
            </a:r>
            <a:endParaRPr lang="en-US" dirty="0"/>
          </a:p>
          <a:p>
            <a:pPr>
              <a:buFont typeface="Arial" panose="020B0604020202020204" pitchFamily="34" charset="0"/>
              <a:buChar char="•"/>
            </a:pPr>
            <a:r>
              <a:rPr lang="en-US" b="1" dirty="0"/>
              <a:t>YELLOW_FINGERS</a:t>
            </a:r>
            <a:r>
              <a:rPr lang="en-US" dirty="0"/>
              <a:t> – Clinical sign often associated with nicotine usage.</a:t>
            </a:r>
            <a:endParaRPr lang="en-US" dirty="0"/>
          </a:p>
          <a:p>
            <a:pPr>
              <a:buFont typeface="Arial" panose="020B0604020202020204" pitchFamily="34" charset="0"/>
              <a:buChar char="•"/>
            </a:pPr>
            <a:r>
              <a:rPr lang="en-US" b="1" dirty="0"/>
              <a:t>ANXIETY</a:t>
            </a:r>
            <a:r>
              <a:rPr lang="en-US" dirty="0"/>
              <a:t> – Psychological state measurement.</a:t>
            </a:r>
            <a:endParaRPr lang="en-US" dirty="0"/>
          </a:p>
          <a:p>
            <a:pPr>
              <a:buFont typeface="Arial" panose="020B0604020202020204" pitchFamily="34" charset="0"/>
              <a:buChar char="•"/>
            </a:pPr>
            <a:r>
              <a:rPr lang="en-US" b="1" dirty="0"/>
              <a:t>PEER_PRESSURE</a:t>
            </a:r>
            <a:r>
              <a:rPr lang="en-US" dirty="0"/>
              <a:t> – Social influence contributing to lifestyle habits.</a:t>
            </a:r>
            <a:endParaRPr lang="en-US" dirty="0"/>
          </a:p>
        </p:txBody>
      </p:sp>
      <p:sp>
        <p:nvSpPr>
          <p:cNvPr id="13" name="TextBox 12"/>
          <p:cNvSpPr txBox="1"/>
          <p:nvPr/>
        </p:nvSpPr>
        <p:spPr>
          <a:xfrm>
            <a:off x="6339845" y="4217396"/>
            <a:ext cx="5453776" cy="2308324"/>
          </a:xfrm>
          <a:prstGeom prst="rect">
            <a:avLst/>
          </a:prstGeom>
          <a:noFill/>
        </p:spPr>
        <p:txBody>
          <a:bodyPr wrap="square">
            <a:spAutoFit/>
          </a:bodyPr>
          <a:lstStyle/>
          <a:p>
            <a:pPr>
              <a:buFont typeface="Arial" panose="020B0604020202020204" pitchFamily="34" charset="0"/>
              <a:buChar char="•"/>
            </a:pPr>
            <a:r>
              <a:rPr lang="en-US" b="1" dirty="0"/>
              <a:t>CHRONIC DISEASE</a:t>
            </a:r>
            <a:r>
              <a:rPr lang="en-US" dirty="0"/>
              <a:t> – Presence of long-term illness or comorbidity.</a:t>
            </a:r>
            <a:r>
              <a:rPr lang="en-US" b="1" dirty="0"/>
              <a:t> </a:t>
            </a:r>
            <a:endParaRPr lang="en-US" b="1" dirty="0"/>
          </a:p>
          <a:p>
            <a:pPr>
              <a:buFont typeface="Arial" panose="020B0604020202020204" pitchFamily="34" charset="0"/>
              <a:buChar char="•"/>
            </a:pPr>
            <a:r>
              <a:rPr lang="en-US" b="1" dirty="0"/>
              <a:t>FATIGUE</a:t>
            </a:r>
            <a:r>
              <a:rPr lang="en-US" dirty="0"/>
              <a:t> – Level of tiredness and physical weakness.</a:t>
            </a:r>
            <a:endParaRPr lang="en-US" dirty="0"/>
          </a:p>
          <a:p>
            <a:pPr>
              <a:buFont typeface="Arial" panose="020B0604020202020204" pitchFamily="34" charset="0"/>
              <a:buChar char="•"/>
            </a:pPr>
            <a:r>
              <a:rPr lang="en-US" b="1" dirty="0"/>
              <a:t>ALLERGY</a:t>
            </a:r>
            <a:r>
              <a:rPr lang="en-US" dirty="0"/>
              <a:t> – Indication of respiratory or other allergic conditions.</a:t>
            </a:r>
            <a:endParaRPr lang="en-US" dirty="0"/>
          </a:p>
          <a:p>
            <a:pPr>
              <a:buFont typeface="Arial" panose="020B0604020202020204" pitchFamily="34" charset="0"/>
              <a:buChar char="•"/>
            </a:pPr>
            <a:r>
              <a:rPr lang="en-US" b="1" dirty="0"/>
              <a:t>WHEEZING</a:t>
            </a:r>
            <a:r>
              <a:rPr lang="en-US" dirty="0"/>
              <a:t> – Sound indicating narrowed or obstructed airways</a:t>
            </a:r>
            <a:endParaRPr lang="en-US" dirty="0"/>
          </a:p>
          <a:p>
            <a:pPr>
              <a:buFont typeface="Arial" panose="020B0604020202020204" pitchFamily="34" charset="0"/>
              <a:buChar char="•"/>
            </a:pPr>
            <a:r>
              <a:rPr lang="en-US" b="1" dirty="0"/>
              <a:t>LUNG_CANCER</a:t>
            </a:r>
            <a:r>
              <a:rPr lang="en-US" dirty="0"/>
              <a:t> – Target label (YES/NO diagnosis).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39488" y="5667621"/>
            <a:ext cx="11713024" cy="108516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Slide Number Placeholder 1"/>
          <p:cNvSpPr>
            <a:spLocks noGrp="1"/>
          </p:cNvSpPr>
          <p:nvPr>
            <p:ph type="sldNum" sz="quarter" idx="12"/>
          </p:nvPr>
        </p:nvSpPr>
        <p:spPr/>
        <p:txBody>
          <a:bodyPr/>
          <a:lstStyle/>
          <a:p>
            <a:fld id="{ECBCDBC5-4E49-49CB-B926-A54925945C9F}" type="slidenum">
              <a:rPr lang="en-IN" smtClean="0"/>
            </a:fld>
            <a:endParaRPr lang="en-IN"/>
          </a:p>
        </p:txBody>
      </p:sp>
      <p:sp>
        <p:nvSpPr>
          <p:cNvPr id="6" name="TextBox 5"/>
          <p:cNvSpPr txBox="1"/>
          <p:nvPr/>
        </p:nvSpPr>
        <p:spPr>
          <a:xfrm>
            <a:off x="239488" y="0"/>
            <a:ext cx="11887199" cy="5909310"/>
          </a:xfrm>
          <a:prstGeom prst="rect">
            <a:avLst/>
          </a:prstGeom>
          <a:noFill/>
        </p:spPr>
        <p:txBody>
          <a:bodyPr wrap="square">
            <a:spAutoFit/>
          </a:bodyPr>
          <a:lstStyle/>
          <a:p>
            <a:pPr>
              <a:lnSpc>
                <a:spcPct val="150000"/>
              </a:lnSpc>
              <a:buNone/>
            </a:pPr>
            <a:r>
              <a:rPr lang="en-US" sz="4400" dirty="0">
                <a:latin typeface="Garamond" panose="02020404030301010803" pitchFamily="18" charset="0"/>
              </a:rPr>
              <a:t>Clinical Notes Example</a:t>
            </a:r>
            <a:endParaRPr lang="en-US" sz="4000" dirty="0">
              <a:latin typeface="Garamond" panose="02020404030301010803" pitchFamily="18" charset="0"/>
            </a:endParaRPr>
          </a:p>
          <a:p>
            <a:pPr>
              <a:lnSpc>
                <a:spcPct val="150000"/>
              </a:lnSpc>
              <a:buNone/>
            </a:pPr>
            <a:r>
              <a:rPr lang="en-US" sz="2000" b="1" dirty="0"/>
              <a:t>Patient 1 Note:</a:t>
            </a:r>
            <a:endParaRPr lang="en-US" sz="2000" b="1" dirty="0"/>
          </a:p>
          <a:p>
            <a:pPr>
              <a:buNone/>
            </a:pPr>
            <a:br>
              <a:rPr lang="en-US" dirty="0"/>
            </a:br>
            <a:r>
              <a:rPr lang="en-US" sz="1200" i="1" dirty="0"/>
              <a:t>“This patient, an 78-year-old female never-smoker, presents with symptoms consistent with advanced lung cancer including yellow fingers, anxiety, fatigue, wheezing, coughing, shortness of breath, chest pain, and swallowing difficulty. Her symptoms have worsened over the past few days. Symptoms: paraneoplastic syndrome (since 10 weeks), night sweats (since 4 years), SVC syndrome (since 5 weeks), chest pain (since 2 years), shoulder pain (since 3 years), peripheral edema (since 11 months), shortness of breath (since 5 months).”</a:t>
            </a:r>
            <a:endParaRPr lang="en-US" sz="1200" i="1" dirty="0"/>
          </a:p>
          <a:p>
            <a:pPr>
              <a:buNone/>
            </a:pPr>
            <a:endParaRPr lang="en-US" sz="1200" i="1" dirty="0"/>
          </a:p>
          <a:p>
            <a:r>
              <a:rPr lang="en-IN" sz="2000" b="1" dirty="0"/>
              <a:t>Key Clinical Insights – 78-year-old Female, Never-Smoker:</a:t>
            </a:r>
            <a:endParaRPr lang="en-IN" sz="2000" b="1" dirty="0"/>
          </a:p>
          <a:p>
            <a:endParaRPr lang="en-IN" b="1" dirty="0"/>
          </a:p>
          <a:p>
            <a:pPr marL="285750" indent="-285750">
              <a:buFont typeface="Arial" panose="020B0604020202020204" pitchFamily="34" charset="0"/>
              <a:buChar char="•"/>
            </a:pPr>
            <a:r>
              <a:rPr lang="en-IN" sz="1600" b="1" dirty="0"/>
              <a:t>Yellow fingers + anxiety + fatigue</a:t>
            </a:r>
            <a:r>
              <a:rPr lang="en-IN" sz="1600" dirty="0"/>
              <a:t> → systemic/psychological impact</a:t>
            </a:r>
            <a:endParaRPr lang="en-IN" sz="1600" dirty="0"/>
          </a:p>
          <a:p>
            <a:pPr marL="285750" indent="-285750">
              <a:buFont typeface="Arial" panose="020B0604020202020204" pitchFamily="34" charset="0"/>
              <a:buChar char="•"/>
            </a:pPr>
            <a:r>
              <a:rPr lang="en-IN" sz="1600" b="1" dirty="0"/>
              <a:t>Respiratory symptoms</a:t>
            </a:r>
            <a:r>
              <a:rPr lang="en-IN" sz="1600" dirty="0"/>
              <a:t> → wheezing, cough, </a:t>
            </a:r>
            <a:r>
              <a:rPr lang="en-IN" sz="1600" dirty="0" err="1"/>
              <a:t>dyspnea</a:t>
            </a:r>
            <a:r>
              <a:rPr lang="en-IN" sz="1600" dirty="0"/>
              <a:t>, chest pain, dysphagia</a:t>
            </a:r>
            <a:endParaRPr lang="en-IN" sz="1600" dirty="0"/>
          </a:p>
          <a:p>
            <a:pPr marL="285750" indent="-285750">
              <a:buFont typeface="Arial" panose="020B0604020202020204" pitchFamily="34" charset="0"/>
              <a:buChar char="•"/>
            </a:pPr>
            <a:r>
              <a:rPr lang="en-IN" sz="1600" b="1" dirty="0"/>
              <a:t>Paraneoplastic syndrome (10 weeks)</a:t>
            </a:r>
            <a:r>
              <a:rPr lang="en-IN" sz="1600" dirty="0"/>
              <a:t> → strong cancer association</a:t>
            </a:r>
            <a:endParaRPr lang="en-IN" sz="1600" dirty="0"/>
          </a:p>
          <a:p>
            <a:pPr marL="285750" indent="-285750">
              <a:buFont typeface="Arial" panose="020B0604020202020204" pitchFamily="34" charset="0"/>
              <a:buChar char="•"/>
            </a:pPr>
            <a:r>
              <a:rPr lang="en-IN" sz="1600" b="1" dirty="0"/>
              <a:t>SVC syndrome (5 weeks)</a:t>
            </a:r>
            <a:r>
              <a:rPr lang="en-IN" sz="1600" dirty="0"/>
              <a:t> → mediastinal </a:t>
            </a:r>
            <a:r>
              <a:rPr lang="en-IN" sz="1600" dirty="0" err="1"/>
              <a:t>tumor</a:t>
            </a:r>
            <a:r>
              <a:rPr lang="en-IN" sz="1600" dirty="0"/>
              <a:t> compression</a:t>
            </a:r>
            <a:endParaRPr lang="en-IN" sz="1600" dirty="0"/>
          </a:p>
          <a:p>
            <a:pPr marL="285750" indent="-285750">
              <a:buFont typeface="Arial" panose="020B0604020202020204" pitchFamily="34" charset="0"/>
              <a:buChar char="•"/>
            </a:pPr>
            <a:r>
              <a:rPr lang="en-IN" sz="1600" b="1" dirty="0"/>
              <a:t>Night sweats (4 years)</a:t>
            </a:r>
            <a:r>
              <a:rPr lang="en-IN" sz="1600" dirty="0"/>
              <a:t> → chronic systemic symptom, possible malignancy marker</a:t>
            </a:r>
            <a:endParaRPr lang="en-IN" sz="1600" dirty="0"/>
          </a:p>
          <a:p>
            <a:pPr marL="285750" indent="-285750">
              <a:buFont typeface="Arial" panose="020B0604020202020204" pitchFamily="34" charset="0"/>
              <a:buChar char="•"/>
            </a:pPr>
            <a:r>
              <a:rPr lang="en-IN" sz="1600" b="1" dirty="0"/>
              <a:t>Chest pain (2 years)</a:t>
            </a:r>
            <a:r>
              <a:rPr lang="en-IN" sz="1600" dirty="0"/>
              <a:t> → local </a:t>
            </a:r>
            <a:r>
              <a:rPr lang="en-IN" sz="1600" dirty="0" err="1"/>
              <a:t>tumor</a:t>
            </a:r>
            <a:r>
              <a:rPr lang="en-IN" sz="1600" dirty="0"/>
              <a:t>/pleural involvement</a:t>
            </a:r>
            <a:endParaRPr lang="en-IN" sz="1600" dirty="0"/>
          </a:p>
          <a:p>
            <a:pPr marL="285750" indent="-285750">
              <a:buFont typeface="Arial" panose="020B0604020202020204" pitchFamily="34" charset="0"/>
              <a:buChar char="•"/>
            </a:pPr>
            <a:r>
              <a:rPr lang="en-IN" sz="1600" b="1" dirty="0"/>
              <a:t>Shoulder pain (3 years)</a:t>
            </a:r>
            <a:r>
              <a:rPr lang="en-IN" sz="1600" dirty="0"/>
              <a:t> → possible Pancoast </a:t>
            </a:r>
            <a:r>
              <a:rPr lang="en-IN" sz="1600" dirty="0" err="1"/>
              <a:t>tumor</a:t>
            </a:r>
            <a:r>
              <a:rPr lang="en-IN" sz="1600" dirty="0"/>
              <a:t> involvement</a:t>
            </a:r>
            <a:endParaRPr lang="en-IN" sz="1600" dirty="0"/>
          </a:p>
          <a:p>
            <a:pPr marL="285750" indent="-285750">
              <a:buFont typeface="Arial" panose="020B0604020202020204" pitchFamily="34" charset="0"/>
              <a:buChar char="•"/>
            </a:pPr>
            <a:r>
              <a:rPr lang="en-IN" sz="1600" b="1" dirty="0"/>
              <a:t>Peripheral </a:t>
            </a:r>
            <a:r>
              <a:rPr lang="en-IN" sz="1600" b="1" dirty="0" err="1"/>
              <a:t>edema</a:t>
            </a:r>
            <a:r>
              <a:rPr lang="en-IN" sz="1600" b="1" dirty="0"/>
              <a:t> (11 months)</a:t>
            </a:r>
            <a:r>
              <a:rPr lang="en-IN" sz="1600" dirty="0"/>
              <a:t> → venous/lymphatic obstruction</a:t>
            </a:r>
            <a:endParaRPr lang="en-IN" sz="1600" dirty="0"/>
          </a:p>
          <a:p>
            <a:pPr marL="285750" indent="-285750">
              <a:buFont typeface="Arial" panose="020B0604020202020204" pitchFamily="34" charset="0"/>
              <a:buChar char="•"/>
            </a:pPr>
            <a:r>
              <a:rPr lang="en-IN" sz="1600" b="1" dirty="0"/>
              <a:t>Shortness of breath (5 months)</a:t>
            </a:r>
            <a:r>
              <a:rPr lang="en-IN" sz="1600" dirty="0"/>
              <a:t> → progressive respiratory compromise</a:t>
            </a:r>
            <a:endParaRPr lang="en-IN" sz="1600" dirty="0"/>
          </a:p>
          <a:p>
            <a:pPr marL="285750" indent="-285750">
              <a:buFont typeface="Arial" panose="020B0604020202020204" pitchFamily="34" charset="0"/>
              <a:buChar char="•"/>
            </a:pPr>
            <a:r>
              <a:rPr lang="en-IN" sz="1600" b="1" dirty="0"/>
              <a:t>Confirmed advanced lung cancer</a:t>
            </a:r>
            <a:r>
              <a:rPr lang="en-IN" sz="1600" dirty="0"/>
              <a:t> ✅</a:t>
            </a:r>
            <a:endParaRPr lang="en-IN" sz="1600" dirty="0"/>
          </a:p>
          <a:p>
            <a:endParaRPr lang="en-IN" dirty="0"/>
          </a:p>
        </p:txBody>
      </p:sp>
      <p:sp>
        <p:nvSpPr>
          <p:cNvPr id="5" name="TextBox 4"/>
          <p:cNvSpPr txBox="1"/>
          <p:nvPr/>
        </p:nvSpPr>
        <p:spPr>
          <a:xfrm>
            <a:off x="518712" y="5748536"/>
            <a:ext cx="10751544" cy="923330"/>
          </a:xfrm>
          <a:prstGeom prst="rect">
            <a:avLst/>
          </a:prstGeom>
          <a:noFill/>
        </p:spPr>
        <p:txBody>
          <a:bodyPr wrap="square">
            <a:spAutoFit/>
          </a:bodyPr>
          <a:lstStyle/>
          <a:p>
            <a:pPr algn="just"/>
            <a:r>
              <a:rPr lang="en-IN" b="1" dirty="0"/>
              <a:t>Takeaway:</a:t>
            </a:r>
            <a:r>
              <a:rPr lang="en-IN" dirty="0"/>
              <a:t> Combination of </a:t>
            </a:r>
            <a:r>
              <a:rPr lang="en-IN" b="1" dirty="0"/>
              <a:t>paraneoplastic features, vascular compression (SVC syndrome, </a:t>
            </a:r>
            <a:r>
              <a:rPr lang="en-IN" b="1" dirty="0" err="1"/>
              <a:t>edema</a:t>
            </a:r>
            <a:r>
              <a:rPr lang="en-IN" b="1" dirty="0"/>
              <a:t>), systemic red flags (night sweats, weight loss, fatigue)</a:t>
            </a:r>
            <a:r>
              <a:rPr lang="en-IN" dirty="0"/>
              <a:t>, and </a:t>
            </a:r>
            <a:r>
              <a:rPr lang="en-IN" b="1" dirty="0"/>
              <a:t>chronic pain (chest, shoulder)</a:t>
            </a:r>
            <a:r>
              <a:rPr lang="en-IN" dirty="0"/>
              <a:t> → points to </a:t>
            </a:r>
            <a:r>
              <a:rPr lang="en-IN" b="1" dirty="0"/>
              <a:t>advanced lung cancer with multi-system involvement</a:t>
            </a:r>
            <a:r>
              <a:rPr lang="en-IN" dirty="0"/>
              <a:t>, despite patient being a </a:t>
            </a:r>
            <a:r>
              <a:rPr lang="en-IN" b="1" dirty="0"/>
              <a:t>never-smoker</a:t>
            </a:r>
            <a:r>
              <a:rPr lang="en-IN" dirty="0"/>
              <a:t>.</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p:cNvSpPr txBox="1"/>
          <p:nvPr/>
        </p:nvSpPr>
        <p:spPr>
          <a:xfrm>
            <a:off x="332621" y="308832"/>
            <a:ext cx="11263311" cy="8762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Garamond" panose="02020404030301010803" pitchFamily="18" charset="0"/>
              </a:rPr>
              <a:t>Model Architecture </a:t>
            </a:r>
            <a:endParaRPr lang="en-US" dirty="0">
              <a:latin typeface="Garamond" panose="02020404030301010803" pitchFamily="18" charset="0"/>
            </a:endParaRPr>
          </a:p>
        </p:txBody>
      </p:sp>
      <p:sp>
        <p:nvSpPr>
          <p:cNvPr id="3" name="Rectangle: Rounded Corners 2"/>
          <p:cNvSpPr/>
          <p:nvPr/>
        </p:nvSpPr>
        <p:spPr>
          <a:xfrm>
            <a:off x="327237" y="1415963"/>
            <a:ext cx="1585681"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Dataset Collection</a:t>
            </a:r>
            <a:endParaRPr lang="en-IN" sz="2400" dirty="0"/>
          </a:p>
        </p:txBody>
      </p:sp>
      <p:sp>
        <p:nvSpPr>
          <p:cNvPr id="4" name="Rectangle: Rounded Corners 3"/>
          <p:cNvSpPr/>
          <p:nvPr/>
        </p:nvSpPr>
        <p:spPr>
          <a:xfrm>
            <a:off x="2198444" y="1415963"/>
            <a:ext cx="1585682"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1: </a:t>
            </a:r>
            <a:r>
              <a:rPr lang="en-IN" sz="2000" dirty="0"/>
              <a:t>Symptom &amp; Timeline Extractor</a:t>
            </a:r>
            <a:endParaRPr lang="en-IN" sz="2400" dirty="0"/>
          </a:p>
        </p:txBody>
      </p:sp>
      <p:sp>
        <p:nvSpPr>
          <p:cNvPr id="5" name="Rectangle: Rounded Corners 4"/>
          <p:cNvSpPr/>
          <p:nvPr/>
        </p:nvSpPr>
        <p:spPr>
          <a:xfrm>
            <a:off x="4148123" y="1415963"/>
            <a:ext cx="1585682"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2: </a:t>
            </a:r>
            <a:endParaRPr lang="en-IN" sz="2400" b="1" dirty="0"/>
          </a:p>
          <a:p>
            <a:pPr algn="ctr"/>
            <a:r>
              <a:rPr lang="en-IN" sz="2000" dirty="0"/>
              <a:t>Gene Matcher</a:t>
            </a:r>
            <a:endParaRPr lang="en-IN" sz="2400" dirty="0"/>
          </a:p>
        </p:txBody>
      </p:sp>
      <p:sp>
        <p:nvSpPr>
          <p:cNvPr id="6" name="Rectangle: Rounded Corners 5"/>
          <p:cNvSpPr/>
          <p:nvPr/>
        </p:nvSpPr>
        <p:spPr>
          <a:xfrm>
            <a:off x="8047197" y="1415963"/>
            <a:ext cx="1585683"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Risk Scoring</a:t>
            </a:r>
            <a:endParaRPr lang="en-IN" sz="2400" dirty="0"/>
          </a:p>
        </p:txBody>
      </p:sp>
      <p:cxnSp>
        <p:nvCxnSpPr>
          <p:cNvPr id="9" name="Straight Arrow Connector 8"/>
          <p:cNvCxnSpPr>
            <a:stCxn id="3" idx="3"/>
            <a:endCxn id="4" idx="1"/>
          </p:cNvCxnSpPr>
          <p:nvPr/>
        </p:nvCxnSpPr>
        <p:spPr>
          <a:xfrm>
            <a:off x="1912918" y="2167077"/>
            <a:ext cx="28552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p:cNvCxnSpPr>
            <a:stCxn id="4" idx="3"/>
            <a:endCxn id="5" idx="1"/>
          </p:cNvCxnSpPr>
          <p:nvPr/>
        </p:nvCxnSpPr>
        <p:spPr>
          <a:xfrm>
            <a:off x="3784126" y="2167077"/>
            <a:ext cx="36399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p:cNvCxnSpPr>
            <a:stCxn id="5" idx="3"/>
            <a:endCxn id="31" idx="1"/>
          </p:cNvCxnSpPr>
          <p:nvPr/>
        </p:nvCxnSpPr>
        <p:spPr>
          <a:xfrm>
            <a:off x="5733805" y="2167077"/>
            <a:ext cx="36385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TextBox 14"/>
          <p:cNvSpPr txBox="1"/>
          <p:nvPr/>
        </p:nvSpPr>
        <p:spPr>
          <a:xfrm>
            <a:off x="343508" y="4011851"/>
            <a:ext cx="5419052" cy="2123658"/>
          </a:xfrm>
          <a:prstGeom prst="rect">
            <a:avLst/>
          </a:prstGeom>
          <a:noFill/>
        </p:spPr>
        <p:txBody>
          <a:bodyPr wrap="square">
            <a:spAutoFit/>
          </a:bodyPr>
          <a:lstStyle/>
          <a:p>
            <a:pPr algn="just"/>
            <a:r>
              <a:rPr lang="en-IN" sz="1600" b="1" dirty="0"/>
              <a:t>Tools: </a:t>
            </a:r>
            <a:r>
              <a:rPr lang="en-IN" sz="1600" dirty="0"/>
              <a:t>Python + Flask + Scikit-learn</a:t>
            </a:r>
            <a:endParaRPr lang="en-IN" sz="1600" dirty="0"/>
          </a:p>
          <a:p>
            <a:pPr algn="just"/>
            <a:r>
              <a:rPr lang="en-IN" sz="1600" b="1" dirty="0"/>
              <a:t>Current Implementation: </a:t>
            </a:r>
            <a:r>
              <a:rPr lang="en-IN" sz="1600" dirty="0"/>
              <a:t>Random Forest Classifier — 84% Accuracy (Phase 2)</a:t>
            </a:r>
            <a:endParaRPr lang="en-IN" sz="1600" dirty="0"/>
          </a:p>
          <a:p>
            <a:pPr algn="just"/>
            <a:endParaRPr lang="en-IN" sz="1600" dirty="0"/>
          </a:p>
          <a:p>
            <a:pPr algn="just"/>
            <a:r>
              <a:rPr lang="en-IN" sz="1600" b="1" dirty="0"/>
              <a:t>Input: </a:t>
            </a:r>
            <a:r>
              <a:rPr lang="en-IN" sz="1600" dirty="0"/>
              <a:t>Clinical notes from multiple patient visits</a:t>
            </a:r>
            <a:endParaRPr lang="en-IN" sz="1600" dirty="0"/>
          </a:p>
          <a:p>
            <a:pPr algn="just"/>
            <a:endParaRPr lang="en-IN" sz="1600" dirty="0"/>
          </a:p>
          <a:p>
            <a:pPr algn="just"/>
            <a:r>
              <a:rPr lang="en-IN" sz="1600" b="1" dirty="0"/>
              <a:t>Output: </a:t>
            </a:r>
            <a:r>
              <a:rPr lang="en-IN" sz="1600" dirty="0"/>
              <a:t>Extracted symptoms with timestamp metadata</a:t>
            </a:r>
            <a:endParaRPr lang="en-IN" sz="1600" dirty="0"/>
          </a:p>
          <a:p>
            <a:pPr algn="just"/>
            <a:endParaRPr lang="en-IN" sz="1600" dirty="0"/>
          </a:p>
          <a:p>
            <a:pPr marL="285750" indent="-285750" algn="just">
              <a:buFont typeface="Arial" panose="020B0604020202020204" pitchFamily="34" charset="0"/>
              <a:buChar char="•"/>
            </a:pPr>
            <a:r>
              <a:rPr lang="en-IN" sz="1600" dirty="0"/>
              <a:t>Builds a Patient Journey Graph showing symptom evolution over time</a:t>
            </a:r>
            <a:endParaRPr lang="en-IN" sz="1600" dirty="0"/>
          </a:p>
        </p:txBody>
      </p:sp>
      <p:sp>
        <p:nvSpPr>
          <p:cNvPr id="19" name="TextBox 18"/>
          <p:cNvSpPr txBox="1"/>
          <p:nvPr/>
        </p:nvSpPr>
        <p:spPr>
          <a:xfrm>
            <a:off x="327237" y="3429000"/>
            <a:ext cx="6096000" cy="400110"/>
          </a:xfrm>
          <a:prstGeom prst="rect">
            <a:avLst/>
          </a:prstGeom>
          <a:noFill/>
        </p:spPr>
        <p:txBody>
          <a:bodyPr wrap="square">
            <a:spAutoFit/>
          </a:bodyPr>
          <a:lstStyle/>
          <a:p>
            <a:r>
              <a:rPr lang="en-IN" sz="2000" b="1" dirty="0"/>
              <a:t>Agent 1: Symptom &amp; Timeline Extractor</a:t>
            </a:r>
            <a:endParaRPr lang="en-IN" sz="2000" b="1" dirty="0"/>
          </a:p>
        </p:txBody>
      </p:sp>
      <p:cxnSp>
        <p:nvCxnSpPr>
          <p:cNvPr id="21" name="Straight Connector 20"/>
          <p:cNvCxnSpPr/>
          <p:nvPr/>
        </p:nvCxnSpPr>
        <p:spPr>
          <a:xfrm>
            <a:off x="5894140" y="3694556"/>
            <a:ext cx="0" cy="2533746"/>
          </a:xfrm>
          <a:prstGeom prst="line">
            <a:avLst/>
          </a:prstGeom>
        </p:spPr>
        <p:style>
          <a:lnRef idx="3">
            <a:schemeClr val="dk1"/>
          </a:lnRef>
          <a:fillRef idx="0">
            <a:schemeClr val="dk1"/>
          </a:fillRef>
          <a:effectRef idx="2">
            <a:schemeClr val="dk1"/>
          </a:effectRef>
          <a:fontRef idx="minor">
            <a:schemeClr val="tx1"/>
          </a:fontRef>
        </p:style>
      </p:cxnSp>
      <p:sp>
        <p:nvSpPr>
          <p:cNvPr id="23" name="TextBox 22"/>
          <p:cNvSpPr txBox="1"/>
          <p:nvPr/>
        </p:nvSpPr>
        <p:spPr>
          <a:xfrm>
            <a:off x="5964276" y="3438472"/>
            <a:ext cx="6096000" cy="400110"/>
          </a:xfrm>
          <a:prstGeom prst="rect">
            <a:avLst/>
          </a:prstGeom>
          <a:noFill/>
        </p:spPr>
        <p:txBody>
          <a:bodyPr wrap="square">
            <a:spAutoFit/>
          </a:bodyPr>
          <a:lstStyle/>
          <a:p>
            <a:r>
              <a:rPr lang="en-US" sz="2000" b="1" dirty="0"/>
              <a:t>Agent 2: Gene Matcher </a:t>
            </a:r>
            <a:r>
              <a:rPr lang="en-US" b="1" dirty="0"/>
              <a:t>(Knowledge Graph-Based)</a:t>
            </a:r>
            <a:endParaRPr lang="en-IN" sz="2000" b="1" dirty="0"/>
          </a:p>
        </p:txBody>
      </p:sp>
      <p:sp>
        <p:nvSpPr>
          <p:cNvPr id="24" name="TextBox 23"/>
          <p:cNvSpPr txBox="1"/>
          <p:nvPr/>
        </p:nvSpPr>
        <p:spPr>
          <a:xfrm>
            <a:off x="5964276" y="3890665"/>
            <a:ext cx="5839579" cy="2062103"/>
          </a:xfrm>
          <a:prstGeom prst="rect">
            <a:avLst/>
          </a:prstGeom>
          <a:noFill/>
        </p:spPr>
        <p:txBody>
          <a:bodyPr wrap="square">
            <a:spAutoFit/>
          </a:bodyPr>
          <a:lstStyle/>
          <a:p>
            <a:pPr marL="285750" indent="-285750" algn="just">
              <a:buFont typeface="Arial" panose="020B0604020202020204" pitchFamily="34" charset="0"/>
              <a:buChar char="•"/>
            </a:pPr>
            <a:r>
              <a:rPr lang="en-IN" sz="1600" dirty="0"/>
              <a:t>Uses a Lung Cancer Knowledge Graph (e.g., gene–symptom–disease relationships from </a:t>
            </a:r>
            <a:r>
              <a:rPr lang="en-IN" sz="1600" dirty="0" err="1"/>
              <a:t>DisGeNET</a:t>
            </a:r>
            <a:r>
              <a:rPr lang="en-IN" sz="1600" dirty="0"/>
              <a:t>, UMLS, etc.)</a:t>
            </a:r>
            <a:endParaRPr lang="en-IN" sz="1600" dirty="0"/>
          </a:p>
          <a:p>
            <a:pPr marL="285750" indent="-285750" algn="just">
              <a:buFont typeface="Arial" panose="020B0604020202020204" pitchFamily="34" charset="0"/>
              <a:buChar char="•"/>
            </a:pPr>
            <a:endParaRPr lang="en-IN" sz="1600" dirty="0"/>
          </a:p>
          <a:p>
            <a:pPr marL="285750" indent="-285750" algn="just">
              <a:buFont typeface="Arial" panose="020B0604020202020204" pitchFamily="34" charset="0"/>
              <a:buChar char="•"/>
            </a:pPr>
            <a:r>
              <a:rPr lang="en-IN" sz="1600" dirty="0"/>
              <a:t>Maps extracted symptoms to relevant lung cancer-associated genes.</a:t>
            </a:r>
            <a:endParaRPr lang="en-IN" sz="1600" dirty="0"/>
          </a:p>
          <a:p>
            <a:pPr marL="285750" indent="-285750" algn="just">
              <a:buFont typeface="Arial" panose="020B0604020202020204" pitchFamily="34" charset="0"/>
              <a:buChar char="•"/>
            </a:pPr>
            <a:endParaRPr lang="en-IN" sz="1600" dirty="0"/>
          </a:p>
          <a:p>
            <a:pPr marL="285750" indent="-285750" algn="just">
              <a:buFont typeface="Arial" panose="020B0604020202020204" pitchFamily="34" charset="0"/>
              <a:buChar char="•"/>
            </a:pPr>
            <a:r>
              <a:rPr lang="en-IN" sz="1600" dirty="0"/>
              <a:t>Captures multi-hop biological relationships (e.g., Symptom → Disease → Gene)</a:t>
            </a:r>
            <a:endParaRPr lang="en-IN" sz="1600" dirty="0"/>
          </a:p>
        </p:txBody>
      </p:sp>
      <p:sp>
        <p:nvSpPr>
          <p:cNvPr id="7" name="Slide Number Placeholder 6"/>
          <p:cNvSpPr>
            <a:spLocks noGrp="1"/>
          </p:cNvSpPr>
          <p:nvPr>
            <p:ph type="sldNum" sz="quarter" idx="12"/>
          </p:nvPr>
        </p:nvSpPr>
        <p:spPr/>
        <p:txBody>
          <a:bodyPr/>
          <a:lstStyle/>
          <a:p>
            <a:fld id="{ECBCDBC5-4E49-49CB-B926-A54925945C9F}" type="slidenum">
              <a:rPr lang="en-IN" smtClean="0"/>
            </a:fld>
            <a:endParaRPr lang="en-IN"/>
          </a:p>
        </p:txBody>
      </p:sp>
      <p:sp>
        <p:nvSpPr>
          <p:cNvPr id="31" name="Rectangle: Rounded Corners 4"/>
          <p:cNvSpPr/>
          <p:nvPr/>
        </p:nvSpPr>
        <p:spPr>
          <a:xfrm>
            <a:off x="6097660" y="1415963"/>
            <a:ext cx="1585682" cy="1502228"/>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3: </a:t>
            </a:r>
            <a:endParaRPr lang="en-IN" sz="2400" b="1" dirty="0"/>
          </a:p>
          <a:p>
            <a:pPr algn="ctr"/>
            <a:r>
              <a:rPr lang="en-IN" sz="2000" dirty="0"/>
              <a:t>Causal Inference Reasoning</a:t>
            </a:r>
            <a:endParaRPr lang="en-IN" sz="2000" dirty="0"/>
          </a:p>
        </p:txBody>
      </p:sp>
      <p:cxnSp>
        <p:nvCxnSpPr>
          <p:cNvPr id="32" name="Straight Arrow Connector 31"/>
          <p:cNvCxnSpPr>
            <a:stCxn id="31" idx="3"/>
          </p:cNvCxnSpPr>
          <p:nvPr/>
        </p:nvCxnSpPr>
        <p:spPr>
          <a:xfrm>
            <a:off x="7683342" y="2167077"/>
            <a:ext cx="3778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6" name="Rectangle: Rounded Corners 4"/>
          <p:cNvSpPr/>
          <p:nvPr/>
        </p:nvSpPr>
        <p:spPr>
          <a:xfrm>
            <a:off x="9928103" y="1415963"/>
            <a:ext cx="1585682"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2: </a:t>
            </a:r>
            <a:endParaRPr lang="en-IN" sz="2400" b="1" dirty="0"/>
          </a:p>
          <a:p>
            <a:pPr algn="ctr"/>
            <a:r>
              <a:rPr lang="en-IN" sz="2000" dirty="0"/>
              <a:t>Gene Matcher</a:t>
            </a:r>
            <a:endParaRPr lang="en-IN" sz="2400" dirty="0"/>
          </a:p>
        </p:txBody>
      </p:sp>
      <p:cxnSp>
        <p:nvCxnSpPr>
          <p:cNvPr id="46" name="Straight Arrow Connector 45"/>
          <p:cNvCxnSpPr>
            <a:stCxn id="6" idx="3"/>
          </p:cNvCxnSpPr>
          <p:nvPr/>
        </p:nvCxnSpPr>
        <p:spPr>
          <a:xfrm>
            <a:off x="9632880" y="2167077"/>
            <a:ext cx="281262" cy="234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8" name="Rectangle: Rounded Corners 4"/>
          <p:cNvSpPr/>
          <p:nvPr/>
        </p:nvSpPr>
        <p:spPr>
          <a:xfrm>
            <a:off x="9914143" y="1415963"/>
            <a:ext cx="1889712" cy="1502228"/>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4:</a:t>
            </a:r>
            <a:endParaRPr lang="en-IN" sz="2400" b="1" dirty="0"/>
          </a:p>
          <a:p>
            <a:pPr algn="ctr"/>
            <a:r>
              <a:rPr lang="en-IN" sz="2000" dirty="0"/>
              <a:t>Personalized Risk Calibration</a:t>
            </a:r>
            <a:endParaRPr lang="en-IN"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p:cNvSpPr txBox="1"/>
          <p:nvPr/>
        </p:nvSpPr>
        <p:spPr>
          <a:xfrm>
            <a:off x="332621" y="308832"/>
            <a:ext cx="11263311" cy="8762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Garamond" panose="02020404030301010803" pitchFamily="18" charset="0"/>
              </a:rPr>
              <a:t>Model Architecture </a:t>
            </a:r>
            <a:endParaRPr lang="en-US" dirty="0">
              <a:latin typeface="Garamond" panose="02020404030301010803" pitchFamily="18" charset="0"/>
            </a:endParaRPr>
          </a:p>
        </p:txBody>
      </p:sp>
      <p:sp>
        <p:nvSpPr>
          <p:cNvPr id="3" name="Rectangle: Rounded Corners 2"/>
          <p:cNvSpPr/>
          <p:nvPr/>
        </p:nvSpPr>
        <p:spPr>
          <a:xfrm>
            <a:off x="327237" y="1415963"/>
            <a:ext cx="1585681"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Dataset Collection</a:t>
            </a:r>
            <a:endParaRPr lang="en-IN" sz="2400" dirty="0"/>
          </a:p>
        </p:txBody>
      </p:sp>
      <p:sp>
        <p:nvSpPr>
          <p:cNvPr id="4" name="Rectangle: Rounded Corners 3"/>
          <p:cNvSpPr/>
          <p:nvPr/>
        </p:nvSpPr>
        <p:spPr>
          <a:xfrm>
            <a:off x="2198444" y="1415963"/>
            <a:ext cx="1585682"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1: </a:t>
            </a:r>
            <a:r>
              <a:rPr lang="en-IN" sz="2000" dirty="0"/>
              <a:t>Symptom &amp; Timeline Extractor</a:t>
            </a:r>
            <a:endParaRPr lang="en-IN" sz="2400" dirty="0"/>
          </a:p>
        </p:txBody>
      </p:sp>
      <p:sp>
        <p:nvSpPr>
          <p:cNvPr id="5" name="Rectangle: Rounded Corners 4"/>
          <p:cNvSpPr/>
          <p:nvPr/>
        </p:nvSpPr>
        <p:spPr>
          <a:xfrm>
            <a:off x="4148123" y="1415963"/>
            <a:ext cx="1585682"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2: </a:t>
            </a:r>
            <a:endParaRPr lang="en-IN" sz="2400" b="1" dirty="0"/>
          </a:p>
          <a:p>
            <a:pPr algn="ctr"/>
            <a:r>
              <a:rPr lang="en-IN" sz="2000" dirty="0"/>
              <a:t>Gene Matcher</a:t>
            </a:r>
            <a:endParaRPr lang="en-IN" sz="2400" dirty="0"/>
          </a:p>
        </p:txBody>
      </p:sp>
      <p:sp>
        <p:nvSpPr>
          <p:cNvPr id="6" name="Rectangle: Rounded Corners 5"/>
          <p:cNvSpPr/>
          <p:nvPr/>
        </p:nvSpPr>
        <p:spPr>
          <a:xfrm>
            <a:off x="8047197" y="1415963"/>
            <a:ext cx="1585683"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Risk Scoring</a:t>
            </a:r>
            <a:endParaRPr lang="en-IN" sz="2400" dirty="0"/>
          </a:p>
        </p:txBody>
      </p:sp>
      <p:cxnSp>
        <p:nvCxnSpPr>
          <p:cNvPr id="9" name="Straight Arrow Connector 8"/>
          <p:cNvCxnSpPr>
            <a:stCxn id="3" idx="3"/>
            <a:endCxn id="4" idx="1"/>
          </p:cNvCxnSpPr>
          <p:nvPr/>
        </p:nvCxnSpPr>
        <p:spPr>
          <a:xfrm>
            <a:off x="1912918" y="2167077"/>
            <a:ext cx="28552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p:cNvCxnSpPr>
            <a:stCxn id="4" idx="3"/>
            <a:endCxn id="5" idx="1"/>
          </p:cNvCxnSpPr>
          <p:nvPr/>
        </p:nvCxnSpPr>
        <p:spPr>
          <a:xfrm>
            <a:off x="3784126" y="2167077"/>
            <a:ext cx="36399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p:cNvCxnSpPr>
            <a:stCxn id="5" idx="3"/>
            <a:endCxn id="31" idx="1"/>
          </p:cNvCxnSpPr>
          <p:nvPr/>
        </p:nvCxnSpPr>
        <p:spPr>
          <a:xfrm>
            <a:off x="5733805" y="2167077"/>
            <a:ext cx="36385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TextBox 14"/>
          <p:cNvSpPr txBox="1"/>
          <p:nvPr/>
        </p:nvSpPr>
        <p:spPr>
          <a:xfrm>
            <a:off x="343508" y="4011851"/>
            <a:ext cx="5419052" cy="2800767"/>
          </a:xfrm>
          <a:prstGeom prst="rect">
            <a:avLst/>
          </a:prstGeom>
          <a:noFill/>
        </p:spPr>
        <p:txBody>
          <a:bodyPr wrap="square">
            <a:spAutoFit/>
          </a:bodyPr>
          <a:lstStyle/>
          <a:p>
            <a:pPr algn="just"/>
            <a:r>
              <a:rPr lang="en-IN" sz="1600" b="1" dirty="0"/>
              <a:t>Tools: </a:t>
            </a:r>
            <a:r>
              <a:rPr lang="en-IN" sz="1600" dirty="0"/>
              <a:t>Python + </a:t>
            </a:r>
            <a:r>
              <a:rPr lang="en-IN" sz="1600" dirty="0" err="1"/>
              <a:t>DoWhy</a:t>
            </a:r>
            <a:r>
              <a:rPr lang="en-IN" sz="1600" dirty="0"/>
              <a:t> / </a:t>
            </a:r>
            <a:r>
              <a:rPr lang="en-IN" sz="1600" dirty="0" err="1"/>
              <a:t>CausalNex</a:t>
            </a:r>
            <a:r>
              <a:rPr lang="en-IN" sz="1600" dirty="0"/>
              <a:t> + </a:t>
            </a:r>
            <a:r>
              <a:rPr lang="en-IN" sz="1600" dirty="0" err="1"/>
              <a:t>NetworkX</a:t>
            </a:r>
            <a:endParaRPr lang="en-IN" sz="1600" dirty="0"/>
          </a:p>
          <a:p>
            <a:r>
              <a:rPr lang="en-IN" sz="1600" b="1" dirty="0"/>
              <a:t>Input: </a:t>
            </a:r>
            <a:endParaRPr lang="en-IN" sz="1600" b="1" dirty="0"/>
          </a:p>
          <a:p>
            <a:pPr marL="285750" indent="-285750">
              <a:buFont typeface="Arial" panose="020B0604020202020204" pitchFamily="34" charset="0"/>
              <a:buChar char="•"/>
            </a:pPr>
            <a:r>
              <a:rPr lang="en-IN" sz="1600" dirty="0"/>
              <a:t>Mapped symptom–gene associations from Agent 2</a:t>
            </a:r>
            <a:endParaRPr lang="en-IN" sz="1600" dirty="0"/>
          </a:p>
          <a:p>
            <a:pPr marL="285750" indent="-285750">
              <a:buFont typeface="Arial" panose="020B0604020202020204" pitchFamily="34" charset="0"/>
              <a:buChar char="•"/>
            </a:pPr>
            <a:r>
              <a:rPr lang="en-IN" sz="1600" dirty="0"/>
              <a:t>Patient demographics (age, gender)</a:t>
            </a:r>
            <a:endParaRPr lang="en-IN" sz="1600" dirty="0"/>
          </a:p>
          <a:p>
            <a:pPr marL="285750" indent="-285750">
              <a:buFont typeface="Arial" panose="020B0604020202020204" pitchFamily="34" charset="0"/>
              <a:buChar char="•"/>
            </a:pPr>
            <a:r>
              <a:rPr lang="en-IN" sz="1600" dirty="0"/>
              <a:t>Environmental exposure factors (air pollution, radon, occupation)</a:t>
            </a:r>
            <a:endParaRPr lang="en-IN" sz="1600" dirty="0"/>
          </a:p>
          <a:p>
            <a:r>
              <a:rPr lang="en-IN" sz="1600" b="1" dirty="0"/>
              <a:t>Output:</a:t>
            </a:r>
            <a:endParaRPr lang="en-IN" sz="1600" b="1" dirty="0"/>
          </a:p>
          <a:p>
            <a:pPr marL="285750" indent="-285750">
              <a:buFont typeface="Arial" panose="020B0604020202020204" pitchFamily="34" charset="0"/>
              <a:buChar char="•"/>
            </a:pPr>
            <a:r>
              <a:rPr lang="en-IN" sz="1600" dirty="0"/>
              <a:t>Causal-weighted gene risk factors</a:t>
            </a:r>
            <a:endParaRPr lang="en-IN" sz="1600" dirty="0"/>
          </a:p>
          <a:p>
            <a:pPr marL="285750" indent="-285750">
              <a:buFont typeface="Arial" panose="020B0604020202020204" pitchFamily="34" charset="0"/>
              <a:buChar char="•"/>
            </a:pPr>
            <a:r>
              <a:rPr lang="en-IN" sz="1600" dirty="0"/>
              <a:t>Confounder-adjusted causal effect scores</a:t>
            </a:r>
            <a:endParaRPr lang="en-IN" sz="1600" dirty="0"/>
          </a:p>
          <a:p>
            <a:pPr marL="285750" indent="-285750">
              <a:buFont typeface="Arial" panose="020B0604020202020204" pitchFamily="34" charset="0"/>
              <a:buChar char="•"/>
            </a:pPr>
            <a:r>
              <a:rPr lang="en-IN" sz="1600" dirty="0"/>
              <a:t>Causal explanation graphs</a:t>
            </a:r>
            <a:endParaRPr lang="en-IN" sz="1600" dirty="0"/>
          </a:p>
          <a:p>
            <a:pPr algn="just"/>
            <a:endParaRPr lang="en-IN" sz="1600" dirty="0"/>
          </a:p>
        </p:txBody>
      </p:sp>
      <p:sp>
        <p:nvSpPr>
          <p:cNvPr id="19" name="TextBox 18"/>
          <p:cNvSpPr txBox="1"/>
          <p:nvPr/>
        </p:nvSpPr>
        <p:spPr>
          <a:xfrm>
            <a:off x="327237" y="3429000"/>
            <a:ext cx="6096000" cy="707886"/>
          </a:xfrm>
          <a:prstGeom prst="rect">
            <a:avLst/>
          </a:prstGeom>
          <a:noFill/>
        </p:spPr>
        <p:txBody>
          <a:bodyPr wrap="square">
            <a:spAutoFit/>
          </a:bodyPr>
          <a:lstStyle/>
          <a:p>
            <a:r>
              <a:rPr lang="en-IN" sz="2000" b="1" dirty="0">
                <a:solidFill>
                  <a:srgbClr val="00B050"/>
                </a:solidFill>
              </a:rPr>
              <a:t>Agent 3: </a:t>
            </a:r>
            <a:r>
              <a:rPr lang="en-IN" sz="2000" b="1" dirty="0"/>
              <a:t>Causal Inference Reasoning Agent</a:t>
            </a:r>
            <a:endParaRPr lang="en-IN" sz="2000" b="1" dirty="0"/>
          </a:p>
          <a:p>
            <a:endParaRPr lang="en-IN" sz="2000" b="1" dirty="0"/>
          </a:p>
        </p:txBody>
      </p:sp>
      <p:cxnSp>
        <p:nvCxnSpPr>
          <p:cNvPr id="21" name="Straight Connector 20"/>
          <p:cNvCxnSpPr/>
          <p:nvPr/>
        </p:nvCxnSpPr>
        <p:spPr>
          <a:xfrm>
            <a:off x="5894140" y="3694556"/>
            <a:ext cx="0" cy="2533746"/>
          </a:xfrm>
          <a:prstGeom prst="line">
            <a:avLst/>
          </a:prstGeom>
        </p:spPr>
        <p:style>
          <a:lnRef idx="3">
            <a:schemeClr val="dk1"/>
          </a:lnRef>
          <a:fillRef idx="0">
            <a:schemeClr val="dk1"/>
          </a:fillRef>
          <a:effectRef idx="2">
            <a:schemeClr val="dk1"/>
          </a:effectRef>
          <a:fontRef idx="minor">
            <a:schemeClr val="tx1"/>
          </a:fontRef>
        </p:style>
      </p:cxnSp>
      <p:sp>
        <p:nvSpPr>
          <p:cNvPr id="23" name="TextBox 22"/>
          <p:cNvSpPr txBox="1"/>
          <p:nvPr/>
        </p:nvSpPr>
        <p:spPr>
          <a:xfrm>
            <a:off x="5964276" y="3438472"/>
            <a:ext cx="6096000" cy="707886"/>
          </a:xfrm>
          <a:prstGeom prst="rect">
            <a:avLst/>
          </a:prstGeom>
          <a:noFill/>
          <a:ln>
            <a:solidFill>
              <a:srgbClr val="00B050"/>
            </a:solidFill>
          </a:ln>
        </p:spPr>
        <p:txBody>
          <a:bodyPr wrap="square">
            <a:spAutoFit/>
          </a:bodyPr>
          <a:lstStyle/>
          <a:p>
            <a:r>
              <a:rPr lang="en-US" sz="2000" b="1" dirty="0">
                <a:solidFill>
                  <a:srgbClr val="00B050"/>
                </a:solidFill>
              </a:rPr>
              <a:t>Agent 4:</a:t>
            </a:r>
            <a:r>
              <a:rPr lang="en-US" sz="2000" b="1" dirty="0"/>
              <a:t> </a:t>
            </a:r>
            <a:r>
              <a:rPr lang="en-IN" sz="2000" b="1" dirty="0"/>
              <a:t>Personalized Risk Calibration Agent</a:t>
            </a:r>
            <a:endParaRPr lang="en-IN" sz="2000" b="1" dirty="0"/>
          </a:p>
          <a:p>
            <a:endParaRPr lang="en-IN" sz="2000" b="1" dirty="0"/>
          </a:p>
        </p:txBody>
      </p:sp>
      <p:sp>
        <p:nvSpPr>
          <p:cNvPr id="24" name="TextBox 23"/>
          <p:cNvSpPr txBox="1"/>
          <p:nvPr/>
        </p:nvSpPr>
        <p:spPr>
          <a:xfrm>
            <a:off x="5964276" y="3890665"/>
            <a:ext cx="5839579" cy="2646878"/>
          </a:xfrm>
          <a:prstGeom prst="rect">
            <a:avLst/>
          </a:prstGeom>
          <a:noFill/>
        </p:spPr>
        <p:txBody>
          <a:bodyPr wrap="square">
            <a:spAutoFit/>
          </a:bodyPr>
          <a:lstStyle/>
          <a:p>
            <a:pPr algn="just"/>
            <a:r>
              <a:rPr lang="en-IN" sz="1600" b="1" dirty="0"/>
              <a:t>Tools: </a:t>
            </a:r>
            <a:r>
              <a:rPr lang="en-IN" sz="1600" dirty="0"/>
              <a:t>Python + Bayesian </a:t>
            </a:r>
            <a:r>
              <a:rPr lang="en-IN" sz="1600" dirty="0" err="1"/>
              <a:t>Modeling</a:t>
            </a:r>
            <a:r>
              <a:rPr lang="en-IN" sz="1600" dirty="0"/>
              <a:t> + Calibration Techniques (Platt Scaling / Isotonic Regression)</a:t>
            </a:r>
            <a:endParaRPr lang="en-IN" sz="1600" dirty="0"/>
          </a:p>
          <a:p>
            <a:r>
              <a:rPr lang="en-IN" sz="1600" b="1" dirty="0"/>
              <a:t>Input: </a:t>
            </a:r>
            <a:endParaRPr lang="en-IN" sz="1600" b="1" dirty="0"/>
          </a:p>
          <a:p>
            <a:pPr marL="285750" indent="-285750">
              <a:buFont typeface="Arial" panose="020B0604020202020204" pitchFamily="34" charset="0"/>
              <a:buChar char="•"/>
            </a:pPr>
            <a:r>
              <a:rPr lang="en-IN" sz="1600" dirty="0"/>
              <a:t>Raw lung cancer risk score</a:t>
            </a:r>
            <a:endParaRPr lang="en-IN" sz="1600" dirty="0"/>
          </a:p>
          <a:p>
            <a:pPr marL="285750" indent="-285750">
              <a:buFont typeface="Arial" panose="020B0604020202020204" pitchFamily="34" charset="0"/>
              <a:buChar char="•"/>
            </a:pPr>
            <a:r>
              <a:rPr lang="en-IN" sz="1600" dirty="0"/>
              <a:t>Causal-weighted outputs from Agent 4</a:t>
            </a:r>
            <a:endParaRPr lang="en-IN" sz="1600" dirty="0"/>
          </a:p>
          <a:p>
            <a:pPr marL="285750" indent="-285750">
              <a:buFont typeface="Arial" panose="020B0604020202020204" pitchFamily="34" charset="0"/>
              <a:buChar char="•"/>
            </a:pPr>
            <a:r>
              <a:rPr lang="en-IN" sz="1600" dirty="0"/>
              <a:t>Patient demographic and population-level attributes</a:t>
            </a:r>
            <a:endParaRPr lang="en-IN" sz="1600" dirty="0"/>
          </a:p>
          <a:p>
            <a:r>
              <a:rPr lang="en-IN" sz="1600" b="1" dirty="0"/>
              <a:t>Output:</a:t>
            </a:r>
            <a:endParaRPr lang="en-IN" sz="1600" b="1" dirty="0"/>
          </a:p>
          <a:p>
            <a:pPr marL="285750" indent="-285750">
              <a:buFont typeface="Arial" panose="020B0604020202020204" pitchFamily="34" charset="0"/>
              <a:buChar char="•"/>
            </a:pPr>
            <a:r>
              <a:rPr lang="en-IN" sz="1600" dirty="0"/>
              <a:t>Personalized, calibrated lung cancer risk score</a:t>
            </a:r>
            <a:endParaRPr lang="en-IN" sz="1600" dirty="0"/>
          </a:p>
          <a:p>
            <a:pPr marL="285750" indent="-285750">
              <a:buFont typeface="Arial" panose="020B0604020202020204" pitchFamily="34" charset="0"/>
              <a:buChar char="•"/>
            </a:pPr>
            <a:r>
              <a:rPr lang="en-IN" sz="1600" dirty="0"/>
              <a:t>Population-aware screening thresholds</a:t>
            </a:r>
            <a:endParaRPr lang="en-IN" sz="1600" dirty="0"/>
          </a:p>
          <a:p>
            <a:pPr marL="285750" indent="-285750">
              <a:buFont typeface="Arial" panose="020B0604020202020204" pitchFamily="34" charset="0"/>
              <a:buChar char="•"/>
            </a:pPr>
            <a:r>
              <a:rPr lang="en-IN" sz="1600" dirty="0"/>
              <a:t>Bias-adjusted risk interpretation</a:t>
            </a:r>
            <a:endParaRPr lang="en-IN" sz="1600" dirty="0"/>
          </a:p>
        </p:txBody>
      </p:sp>
      <p:sp>
        <p:nvSpPr>
          <p:cNvPr id="7" name="Slide Number Placeholder 6"/>
          <p:cNvSpPr>
            <a:spLocks noGrp="1"/>
          </p:cNvSpPr>
          <p:nvPr>
            <p:ph type="sldNum" sz="quarter" idx="12"/>
          </p:nvPr>
        </p:nvSpPr>
        <p:spPr/>
        <p:txBody>
          <a:bodyPr/>
          <a:lstStyle/>
          <a:p>
            <a:fld id="{ECBCDBC5-4E49-49CB-B926-A54925945C9F}" type="slidenum">
              <a:rPr lang="en-IN" smtClean="0"/>
            </a:fld>
            <a:endParaRPr lang="en-IN"/>
          </a:p>
        </p:txBody>
      </p:sp>
      <p:sp>
        <p:nvSpPr>
          <p:cNvPr id="31" name="Rectangle: Rounded Corners 4"/>
          <p:cNvSpPr/>
          <p:nvPr/>
        </p:nvSpPr>
        <p:spPr>
          <a:xfrm>
            <a:off x="6097660" y="1415963"/>
            <a:ext cx="1585682" cy="1502228"/>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3: </a:t>
            </a:r>
            <a:endParaRPr lang="en-IN" sz="2400" b="1" dirty="0"/>
          </a:p>
          <a:p>
            <a:pPr algn="ctr"/>
            <a:r>
              <a:rPr lang="en-IN" sz="2000" dirty="0"/>
              <a:t>Causal Inference Reasoning</a:t>
            </a:r>
            <a:endParaRPr lang="en-IN" sz="2000" dirty="0"/>
          </a:p>
        </p:txBody>
      </p:sp>
      <p:cxnSp>
        <p:nvCxnSpPr>
          <p:cNvPr id="32" name="Straight Arrow Connector 31"/>
          <p:cNvCxnSpPr>
            <a:stCxn id="31" idx="3"/>
          </p:cNvCxnSpPr>
          <p:nvPr/>
        </p:nvCxnSpPr>
        <p:spPr>
          <a:xfrm>
            <a:off x="7683342" y="2167077"/>
            <a:ext cx="3778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6" name="Rectangle: Rounded Corners 4"/>
          <p:cNvSpPr/>
          <p:nvPr/>
        </p:nvSpPr>
        <p:spPr>
          <a:xfrm>
            <a:off x="9928103" y="1415963"/>
            <a:ext cx="1585682"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2: </a:t>
            </a:r>
            <a:endParaRPr lang="en-IN" sz="2400" b="1" dirty="0"/>
          </a:p>
          <a:p>
            <a:pPr algn="ctr"/>
            <a:r>
              <a:rPr lang="en-IN" sz="2000" dirty="0"/>
              <a:t>Gene Matcher</a:t>
            </a:r>
            <a:endParaRPr lang="en-IN" sz="2400" dirty="0"/>
          </a:p>
        </p:txBody>
      </p:sp>
      <p:cxnSp>
        <p:nvCxnSpPr>
          <p:cNvPr id="46" name="Straight Arrow Connector 45"/>
          <p:cNvCxnSpPr>
            <a:stCxn id="6" idx="3"/>
          </p:cNvCxnSpPr>
          <p:nvPr/>
        </p:nvCxnSpPr>
        <p:spPr>
          <a:xfrm>
            <a:off x="9632880" y="2167077"/>
            <a:ext cx="281262" cy="234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8" name="Rectangle: Rounded Corners 4"/>
          <p:cNvSpPr/>
          <p:nvPr/>
        </p:nvSpPr>
        <p:spPr>
          <a:xfrm>
            <a:off x="9914143" y="1415963"/>
            <a:ext cx="1889712" cy="1502228"/>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4:</a:t>
            </a:r>
            <a:endParaRPr lang="en-IN" sz="2400" b="1" dirty="0"/>
          </a:p>
          <a:p>
            <a:pPr algn="ctr"/>
            <a:r>
              <a:rPr lang="en-IN" sz="2000" dirty="0"/>
              <a:t>Personalized Risk Calibration</a:t>
            </a:r>
            <a:endParaRPr lang="en-IN"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CBCDBC5-4E49-49CB-B926-A54925945C9F}" type="slidenum">
              <a:rPr lang="en-IN" smtClean="0"/>
            </a:fld>
            <a:endParaRPr lang="en-IN"/>
          </a:p>
        </p:txBody>
      </p:sp>
      <p:sp>
        <p:nvSpPr>
          <p:cNvPr id="6" name="TextBox 5"/>
          <p:cNvSpPr txBox="1"/>
          <p:nvPr/>
        </p:nvSpPr>
        <p:spPr>
          <a:xfrm>
            <a:off x="0" y="1"/>
            <a:ext cx="12192000" cy="6740307"/>
          </a:xfrm>
          <a:prstGeom prst="rect">
            <a:avLst/>
          </a:prstGeom>
          <a:noFill/>
        </p:spPr>
        <p:txBody>
          <a:bodyPr wrap="square">
            <a:spAutoFit/>
          </a:bodyPr>
          <a:lstStyle/>
          <a:p>
            <a:pPr algn="ctr">
              <a:buNone/>
            </a:pPr>
            <a:r>
              <a:rPr lang="en-IN" sz="3600" dirty="0"/>
              <a:t>METHODOLOGY</a:t>
            </a:r>
            <a:endParaRPr lang="en-IN" sz="3600" dirty="0"/>
          </a:p>
          <a:p>
            <a:pPr>
              <a:buNone/>
            </a:pPr>
            <a:endParaRPr lang="en-IN" dirty="0"/>
          </a:p>
          <a:p>
            <a:r>
              <a:rPr lang="en-IN" b="1" dirty="0"/>
              <a:t>METHODOLOGY</a:t>
            </a:r>
            <a:r>
              <a:rPr lang="en-IN" dirty="0"/>
              <a:t>:</a:t>
            </a:r>
            <a:r>
              <a:rPr lang="en-IN" b="1" dirty="0"/>
              <a:t>Dataset Generation &amp; Feature Engineering</a:t>
            </a:r>
            <a:endParaRPr lang="en-IN" b="1" dirty="0"/>
          </a:p>
          <a:p>
            <a:pPr>
              <a:buNone/>
            </a:pPr>
            <a:endParaRPr lang="en-IN" dirty="0"/>
          </a:p>
          <a:p>
            <a:pPr>
              <a:buNone/>
            </a:pPr>
            <a:r>
              <a:rPr lang="en-IN" dirty="0"/>
              <a:t>Dataset Generation:</a:t>
            </a:r>
            <a:endParaRPr lang="en-IN" dirty="0"/>
          </a:p>
          <a:p>
            <a:pPr marL="285750" indent="-285750">
              <a:buFont typeface="Arial" panose="020B0604020202020204" pitchFamily="34" charset="0"/>
              <a:buChar char="•"/>
            </a:pPr>
            <a:r>
              <a:rPr lang="en-IN" dirty="0"/>
              <a:t>3000 synthetic patient records generated using Python (pandas, numpy).</a:t>
            </a:r>
            <a:endParaRPr lang="en-IN" dirty="0"/>
          </a:p>
          <a:p>
            <a:pPr marL="285750" indent="-285750">
              <a:buFont typeface="Arial" panose="020B0604020202020204" pitchFamily="34" charset="0"/>
              <a:buChar char="•"/>
            </a:pPr>
            <a:r>
              <a:rPr lang="en-IN" dirty="0"/>
              <a:t>1500 cancer patients + 1500 non-cancer — balanced dataset.</a:t>
            </a:r>
            <a:endParaRPr lang="en-IN" dirty="0"/>
          </a:p>
          <a:p>
            <a:pPr marL="285750" indent="-285750">
              <a:buFont typeface="Arial" panose="020B0604020202020204" pitchFamily="34" charset="0"/>
              <a:buChar char="•"/>
            </a:pPr>
            <a:r>
              <a:rPr lang="en-IN" dirty="0"/>
              <a:t>Realistic symptom distributions — cancer patients have higher symptom weights.</a:t>
            </a:r>
            <a:endParaRPr lang="en-IN" dirty="0"/>
          </a:p>
          <a:p>
            <a:pPr>
              <a:buNone/>
            </a:pPr>
            <a:r>
              <a:rPr lang="en-IN" dirty="0"/>
              <a:t>Features Used (8 clinical symptoms):</a:t>
            </a:r>
            <a:endParaRPr lang="en-IN" dirty="0"/>
          </a:p>
          <a:p>
            <a:pPr marL="285750" indent="-285750">
              <a:buFont typeface="Arial" panose="020B0604020202020204" pitchFamily="34" charset="0"/>
              <a:buChar char="•"/>
            </a:pPr>
            <a:r>
              <a:rPr lang="en-IN" dirty="0"/>
              <a:t>SMOKING, YELLOW_FINGERS, ANXIETY, PEER_PRESSURE</a:t>
            </a:r>
            <a:endParaRPr lang="en-IN" dirty="0"/>
          </a:p>
          <a:p>
            <a:pPr marL="285750" indent="-285750">
              <a:buFont typeface="Arial" panose="020B0604020202020204" pitchFamily="34" charset="0"/>
              <a:buChar char="•"/>
            </a:pPr>
            <a:r>
              <a:rPr lang="en-IN" dirty="0"/>
              <a:t>CHRONIC_DISEASE, FATIGUE, ALLERGY, WHEEZING</a:t>
            </a:r>
            <a:endParaRPr lang="en-IN" dirty="0"/>
          </a:p>
          <a:p>
            <a:pPr>
              <a:buNone/>
            </a:pPr>
            <a:r>
              <a:rPr lang="en-IN" dirty="0"/>
              <a:t>Tools &amp; Libraries:</a:t>
            </a:r>
            <a:endParaRPr lang="en-IN" dirty="0"/>
          </a:p>
          <a:p>
            <a:pPr marL="285750" indent="-285750">
              <a:buFont typeface="Arial" panose="020B0604020202020204" pitchFamily="34" charset="0"/>
              <a:buChar char="•"/>
            </a:pPr>
            <a:r>
              <a:rPr lang="en-IN" dirty="0"/>
              <a:t>Python, pandas, numpy, scikit-learn</a:t>
            </a:r>
            <a:endParaRPr lang="en-IN" dirty="0"/>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CBCDBC5-4E49-49CB-B926-A54925945C9F}" type="slidenum">
              <a:rPr lang="en-IN" smtClean="0"/>
            </a:fld>
            <a:endParaRPr lang="en-IN"/>
          </a:p>
        </p:txBody>
      </p:sp>
      <p:sp>
        <p:nvSpPr>
          <p:cNvPr id="4" name="TextBox 3"/>
          <p:cNvSpPr txBox="1"/>
          <p:nvPr/>
        </p:nvSpPr>
        <p:spPr>
          <a:xfrm>
            <a:off x="0" y="0"/>
            <a:ext cx="12192000" cy="4247317"/>
          </a:xfrm>
          <a:prstGeom prst="rect">
            <a:avLst/>
          </a:prstGeom>
          <a:noFill/>
        </p:spPr>
        <p:txBody>
          <a:bodyPr wrap="square">
            <a:spAutoFit/>
          </a:bodyPr>
          <a:lstStyle/>
          <a:p>
            <a:pPr algn="ctr"/>
            <a:r>
              <a:rPr lang="en-IN" sz="3600" dirty="0"/>
              <a:t>METHODOLOGY</a:t>
            </a:r>
            <a:endParaRPr lang="en-IN" sz="3600" dirty="0"/>
          </a:p>
          <a:p>
            <a:pPr>
              <a:buNone/>
            </a:pPr>
            <a:endParaRPr lang="en-IN" dirty="0"/>
          </a:p>
          <a:p>
            <a:pPr>
              <a:buNone/>
            </a:pPr>
            <a:r>
              <a:rPr lang="en-IN" dirty="0"/>
              <a:t>Model Training:</a:t>
            </a:r>
            <a:endParaRPr lang="en-IN" dirty="0"/>
          </a:p>
          <a:p>
            <a:pPr marL="285750" indent="-285750">
              <a:buFont typeface="Arial" panose="020B0604020202020204" pitchFamily="34" charset="0"/>
              <a:buChar char="•"/>
            </a:pPr>
            <a:r>
              <a:rPr lang="en-IN" dirty="0"/>
              <a:t>Algorithm: Random Forest Classifier (100 decision trees)</a:t>
            </a:r>
            <a:endParaRPr lang="en-IN" dirty="0"/>
          </a:p>
          <a:p>
            <a:pPr marL="285750" indent="-285750">
              <a:buFont typeface="Arial" panose="020B0604020202020204" pitchFamily="34" charset="0"/>
              <a:buChar char="•"/>
            </a:pPr>
            <a:r>
              <a:rPr lang="en-IN" dirty="0"/>
              <a:t>Train/Test Split: 80% training, 20% testing</a:t>
            </a:r>
            <a:endParaRPr lang="en-IN" dirty="0"/>
          </a:p>
          <a:p>
            <a:pPr marL="285750" indent="-285750">
              <a:buFont typeface="Arial" panose="020B0604020202020204" pitchFamily="34" charset="0"/>
              <a:buChar char="•"/>
            </a:pPr>
            <a:r>
              <a:rPr lang="en-IN" dirty="0"/>
              <a:t>Model Accuracy: 84% on test data</a:t>
            </a:r>
            <a:endParaRPr lang="en-IN" dirty="0"/>
          </a:p>
          <a:p>
            <a:pPr marL="285750" indent="-285750">
              <a:buFont typeface="Arial" panose="020B0604020202020204" pitchFamily="34" charset="0"/>
              <a:buChar char="•"/>
            </a:pPr>
            <a:r>
              <a:rPr lang="en-IN" dirty="0"/>
              <a:t>Model saved as model.pkl using Python pickle library</a:t>
            </a:r>
            <a:endParaRPr lang="en-IN" dirty="0"/>
          </a:p>
          <a:p>
            <a:pPr>
              <a:buNone/>
            </a:pPr>
            <a:r>
              <a:rPr lang="en-IN" dirty="0"/>
              <a:t>Why Random Forest:</a:t>
            </a:r>
            <a:endParaRPr lang="en-IN" dirty="0"/>
          </a:p>
          <a:p>
            <a:pPr marL="285750" indent="-285750">
              <a:buFont typeface="Arial" panose="020B0604020202020204" pitchFamily="34" charset="0"/>
              <a:buChar char="•"/>
            </a:pPr>
            <a:r>
              <a:rPr lang="en-IN" dirty="0"/>
              <a:t>Handles both binary and multi-class features well</a:t>
            </a:r>
            <a:endParaRPr lang="en-IN" dirty="0"/>
          </a:p>
          <a:p>
            <a:pPr marL="285750" indent="-285750">
              <a:buFont typeface="Arial" panose="020B0604020202020204" pitchFamily="34" charset="0"/>
              <a:buChar char="•"/>
            </a:pPr>
            <a:r>
              <a:rPr lang="en-IN" dirty="0"/>
              <a:t>Resistant to overfitting — good for medical data</a:t>
            </a:r>
            <a:endParaRPr lang="en-IN" dirty="0"/>
          </a:p>
          <a:p>
            <a:pPr marL="285750" indent="-285750">
              <a:buFont typeface="Arial" panose="020B0604020202020204" pitchFamily="34" charset="0"/>
              <a:buChar char="•"/>
            </a:pPr>
            <a:r>
              <a:rPr lang="en-IN" dirty="0"/>
              <a:t>Provides probability scores — not just YES/NO predictions</a:t>
            </a:r>
            <a:endParaRPr lang="en-IN" dirty="0"/>
          </a:p>
          <a:p>
            <a:endParaRPr lang="en-IN" dirty="0"/>
          </a:p>
        </p:txBody>
      </p:sp>
      <p:graphicFrame>
        <p:nvGraphicFramePr>
          <p:cNvPr id="5" name="Table 4"/>
          <p:cNvGraphicFramePr>
            <a:graphicFrameLocks noGrp="1"/>
          </p:cNvGraphicFramePr>
          <p:nvPr/>
        </p:nvGraphicFramePr>
        <p:xfrm>
          <a:off x="573505" y="3970421"/>
          <a:ext cx="10515600" cy="1847640"/>
        </p:xfrm>
        <a:graphic>
          <a:graphicData uri="http://schemas.openxmlformats.org/drawingml/2006/table">
            <a:tbl>
              <a:tblPr/>
              <a:tblGrid>
                <a:gridCol w="5257800"/>
                <a:gridCol w="5257800"/>
              </a:tblGrid>
              <a:tr h="369528">
                <a:tc>
                  <a:txBody>
                    <a:bodyPr/>
                    <a:lstStyle/>
                    <a:p>
                      <a:pPr>
                        <a:buNone/>
                      </a:pPr>
                      <a:r>
                        <a:rPr lang="en-IN"/>
                        <a:t>Aspect</a:t>
                      </a:r>
                      <a:endParaRPr lang="en-IN"/>
                    </a:p>
                  </a:txBody>
                  <a:tcPr anchor="ctr">
                    <a:lnL>
                      <a:noFill/>
                    </a:lnL>
                    <a:lnR>
                      <a:noFill/>
                    </a:lnR>
                    <a:lnT>
                      <a:noFill/>
                    </a:lnT>
                    <a:lnB>
                      <a:noFill/>
                    </a:lnB>
                    <a:noFill/>
                  </a:tcPr>
                </a:tc>
                <a:tc>
                  <a:txBody>
                    <a:bodyPr/>
                    <a:lstStyle/>
                    <a:p>
                      <a:pPr>
                        <a:buNone/>
                      </a:pPr>
                      <a:r>
                        <a:rPr lang="en-IN"/>
                        <a:t>Improvement</a:t>
                      </a:r>
                      <a:endParaRPr lang="en-IN"/>
                    </a:p>
                  </a:txBody>
                  <a:tcPr anchor="ctr">
                    <a:lnL>
                      <a:noFill/>
                    </a:lnL>
                    <a:lnR>
                      <a:noFill/>
                    </a:lnR>
                    <a:lnT>
                      <a:noFill/>
                    </a:lnT>
                    <a:lnB>
                      <a:noFill/>
                    </a:lnB>
                    <a:noFill/>
                  </a:tcPr>
                </a:tc>
              </a:tr>
              <a:tr h="369528">
                <a:tc>
                  <a:txBody>
                    <a:bodyPr/>
                    <a:lstStyle/>
                    <a:p>
                      <a:pPr>
                        <a:buNone/>
                      </a:pPr>
                      <a:r>
                        <a:rPr lang="en-IN"/>
                        <a:t>Clinical trust</a:t>
                      </a:r>
                      <a:endParaRPr lang="en-IN"/>
                    </a:p>
                  </a:txBody>
                  <a:tcPr anchor="ctr">
                    <a:lnL>
                      <a:noFill/>
                    </a:lnL>
                    <a:lnR>
                      <a:noFill/>
                    </a:lnR>
                    <a:lnT>
                      <a:noFill/>
                    </a:lnT>
                    <a:lnB>
                      <a:noFill/>
                    </a:lnB>
                    <a:noFill/>
                  </a:tcPr>
                </a:tc>
                <a:tc>
                  <a:txBody>
                    <a:bodyPr/>
                    <a:lstStyle/>
                    <a:p>
                      <a:pPr>
                        <a:buNone/>
                      </a:pPr>
                      <a:r>
                        <a:rPr lang="en-IN"/>
                        <a:t>Very high</a:t>
                      </a:r>
                      <a:endParaRPr lang="en-IN"/>
                    </a:p>
                  </a:txBody>
                  <a:tcPr anchor="ctr">
                    <a:lnL>
                      <a:noFill/>
                    </a:lnL>
                    <a:lnR>
                      <a:noFill/>
                    </a:lnR>
                    <a:lnT>
                      <a:noFill/>
                    </a:lnT>
                    <a:lnB>
                      <a:noFill/>
                    </a:lnB>
                    <a:noFill/>
                  </a:tcPr>
                </a:tc>
              </a:tr>
              <a:tr h="369528">
                <a:tc>
                  <a:txBody>
                    <a:bodyPr/>
                    <a:lstStyle/>
                    <a:p>
                      <a:pPr>
                        <a:buNone/>
                      </a:pPr>
                      <a:r>
                        <a:rPr lang="en-IN"/>
                        <a:t>False positives</a:t>
                      </a:r>
                      <a:endParaRPr lang="en-IN"/>
                    </a:p>
                  </a:txBody>
                  <a:tcPr anchor="ctr">
                    <a:lnL>
                      <a:noFill/>
                    </a:lnL>
                    <a:lnR>
                      <a:noFill/>
                    </a:lnR>
                    <a:lnT>
                      <a:noFill/>
                    </a:lnT>
                    <a:lnB>
                      <a:noFill/>
                    </a:lnB>
                    <a:noFill/>
                  </a:tcPr>
                </a:tc>
                <a:tc>
                  <a:txBody>
                    <a:bodyPr/>
                    <a:lstStyle/>
                    <a:p>
                      <a:pPr>
                        <a:buNone/>
                      </a:pPr>
                      <a:r>
                        <a:rPr lang="en-IN"/>
                        <a:t>Reduced</a:t>
                      </a:r>
                      <a:endParaRPr lang="en-IN"/>
                    </a:p>
                  </a:txBody>
                  <a:tcPr anchor="ctr">
                    <a:lnL>
                      <a:noFill/>
                    </a:lnL>
                    <a:lnR>
                      <a:noFill/>
                    </a:lnR>
                    <a:lnT>
                      <a:noFill/>
                    </a:lnT>
                    <a:lnB>
                      <a:noFill/>
                    </a:lnB>
                    <a:noFill/>
                  </a:tcPr>
                </a:tc>
              </a:tr>
              <a:tr h="369528">
                <a:tc>
                  <a:txBody>
                    <a:bodyPr/>
                    <a:lstStyle/>
                    <a:p>
                      <a:pPr>
                        <a:buNone/>
                      </a:pPr>
                      <a:r>
                        <a:rPr lang="en-IN"/>
                        <a:t>Scientific rigor</a:t>
                      </a:r>
                      <a:endParaRPr lang="en-IN"/>
                    </a:p>
                  </a:txBody>
                  <a:tcPr anchor="ctr">
                    <a:lnL>
                      <a:noFill/>
                    </a:lnL>
                    <a:lnR>
                      <a:noFill/>
                    </a:lnR>
                    <a:lnT>
                      <a:noFill/>
                    </a:lnT>
                    <a:lnB>
                      <a:noFill/>
                    </a:lnB>
                    <a:noFill/>
                  </a:tcPr>
                </a:tc>
                <a:tc>
                  <a:txBody>
                    <a:bodyPr/>
                    <a:lstStyle/>
                    <a:p>
                      <a:pPr>
                        <a:buNone/>
                      </a:pPr>
                      <a:r>
                        <a:rPr lang="en-IN"/>
                        <a:t>Strong</a:t>
                      </a:r>
                      <a:endParaRPr lang="en-IN"/>
                    </a:p>
                  </a:txBody>
                  <a:tcPr anchor="ctr">
                    <a:lnL>
                      <a:noFill/>
                    </a:lnL>
                    <a:lnR>
                      <a:noFill/>
                    </a:lnR>
                    <a:lnT>
                      <a:noFill/>
                    </a:lnT>
                    <a:lnB>
                      <a:noFill/>
                    </a:lnB>
                    <a:noFill/>
                  </a:tcPr>
                </a:tc>
              </a:tr>
              <a:tr h="369528">
                <a:tc>
                  <a:txBody>
                    <a:bodyPr/>
                    <a:lstStyle/>
                    <a:p>
                      <a:pPr>
                        <a:buNone/>
                      </a:pPr>
                      <a:r>
                        <a:rPr lang="en-IN" dirty="0"/>
                        <a:t>Publication value</a:t>
                      </a:r>
                      <a:endParaRPr lang="en-IN" dirty="0"/>
                    </a:p>
                  </a:txBody>
                  <a:tcPr anchor="ctr">
                    <a:lnL>
                      <a:noFill/>
                    </a:lnL>
                    <a:lnR>
                      <a:noFill/>
                    </a:lnR>
                    <a:lnT>
                      <a:noFill/>
                    </a:lnT>
                    <a:lnB>
                      <a:noFill/>
                    </a:lnB>
                    <a:noFill/>
                  </a:tcPr>
                </a:tc>
                <a:tc>
                  <a:txBody>
                    <a:bodyPr/>
                    <a:lstStyle/>
                    <a:p>
                      <a:pPr>
                        <a:buNone/>
                      </a:pPr>
                      <a:r>
                        <a:rPr lang="en-IN" dirty="0"/>
                        <a:t>Excellent</a:t>
                      </a:r>
                      <a:endParaRPr lang="en-IN" dirty="0"/>
                    </a:p>
                  </a:txBody>
                  <a:tcPr anchor="ctr">
                    <a:lnL>
                      <a:noFill/>
                    </a:lnL>
                    <a:lnR>
                      <a:noFill/>
                    </a:lnR>
                    <a:lnT>
                      <a:noFill/>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CBCDBC5-4E49-49CB-B926-A54925945C9F}" type="slidenum">
              <a:rPr lang="en-IN" smtClean="0"/>
            </a:fld>
            <a:endParaRPr lang="en-IN"/>
          </a:p>
        </p:txBody>
      </p:sp>
      <p:sp>
        <p:nvSpPr>
          <p:cNvPr id="6" name="TextBox 5"/>
          <p:cNvSpPr txBox="1"/>
          <p:nvPr/>
        </p:nvSpPr>
        <p:spPr>
          <a:xfrm>
            <a:off x="0" y="1"/>
            <a:ext cx="12192000" cy="6186309"/>
          </a:xfrm>
          <a:prstGeom prst="rect">
            <a:avLst/>
          </a:prstGeom>
          <a:noFill/>
        </p:spPr>
        <p:txBody>
          <a:bodyPr wrap="square">
            <a:spAutoFit/>
          </a:bodyPr>
          <a:lstStyle/>
          <a:p>
            <a:pPr algn="ctr">
              <a:buNone/>
            </a:pPr>
            <a:r>
              <a:rPr lang="en-IN" sz="3600" dirty="0"/>
              <a:t>METHODOLOGY</a:t>
            </a:r>
            <a:endParaRPr lang="en-IN" sz="3600" dirty="0"/>
          </a:p>
          <a:p>
            <a:pPr>
              <a:buNone/>
            </a:pPr>
            <a:endParaRPr lang="en-IN" dirty="0"/>
          </a:p>
          <a:p>
            <a:r>
              <a:rPr lang="en-IN" b="1" dirty="0"/>
              <a:t>METHODOLOGY</a:t>
            </a:r>
            <a:r>
              <a:rPr lang="en-IN" dirty="0"/>
              <a:t>: </a:t>
            </a:r>
            <a:r>
              <a:rPr lang="en-IN" b="1" dirty="0"/>
              <a:t>Flask Web Application &amp; API</a:t>
            </a:r>
            <a:endParaRPr lang="en-IN" b="1" dirty="0"/>
          </a:p>
          <a:p>
            <a:pPr>
              <a:buNone/>
            </a:pPr>
            <a:endParaRPr lang="en-IN" dirty="0"/>
          </a:p>
          <a:p>
            <a:r>
              <a:rPr lang="en-IN" dirty="0"/>
              <a:t>Backend — Flask REST API:</a:t>
            </a:r>
            <a:endParaRPr lang="en-IN" dirty="0"/>
          </a:p>
          <a:p>
            <a:pPr marL="285750" indent="-285750">
              <a:buFont typeface="Arial" panose="020B0604020202020204" pitchFamily="34" charset="0"/>
              <a:buChar char="•"/>
            </a:pPr>
            <a:r>
              <a:rPr lang="en-IN" dirty="0"/>
              <a:t>POST /predict — accepts 8 symptom inputs as JSON</a:t>
            </a:r>
            <a:endParaRPr lang="en-IN" dirty="0"/>
          </a:p>
          <a:p>
            <a:pPr marL="285750" indent="-285750">
              <a:buFont typeface="Arial" panose="020B0604020202020204" pitchFamily="34" charset="0"/>
              <a:buChar char="•"/>
            </a:pPr>
            <a:r>
              <a:rPr lang="en-IN" dirty="0"/>
              <a:t>Loads model.pkl and runs prediction in real time</a:t>
            </a:r>
            <a:endParaRPr lang="en-IN" dirty="0"/>
          </a:p>
          <a:p>
            <a:pPr marL="285750" indent="-285750">
              <a:buFont typeface="Arial" panose="020B0604020202020204" pitchFamily="34" charset="0"/>
              <a:buChar char="•"/>
            </a:pPr>
            <a:r>
              <a:rPr lang="en-IN" dirty="0"/>
              <a:t>Returns result: HIGH RISK or LOW RISK + probability percentage</a:t>
            </a:r>
            <a:endParaRPr lang="en-IN" dirty="0"/>
          </a:p>
          <a:p>
            <a:endParaRPr lang="en-IN" dirty="0"/>
          </a:p>
          <a:p>
            <a:r>
              <a:rPr lang="en-IN" dirty="0"/>
              <a:t>Frontend — HTML/CSS/JavaScript:</a:t>
            </a:r>
            <a:endParaRPr lang="en-IN" dirty="0"/>
          </a:p>
          <a:p>
            <a:pPr marL="285750" indent="-285750">
              <a:buFont typeface="Arial" panose="020B0604020202020204" pitchFamily="34" charset="0"/>
              <a:buChar char="•"/>
            </a:pPr>
            <a:r>
              <a:rPr lang="en-IN" dirty="0"/>
              <a:t>8 dropdown inputs for clinical symptoms</a:t>
            </a:r>
            <a:endParaRPr lang="en-IN" dirty="0"/>
          </a:p>
          <a:p>
            <a:pPr marL="285750" indent="-285750">
              <a:buFont typeface="Arial" panose="020B0604020202020204" pitchFamily="34" charset="0"/>
              <a:buChar char="•"/>
            </a:pPr>
            <a:r>
              <a:rPr lang="en-IN" dirty="0"/>
              <a:t>Real-time result display with color-coded risk indicator</a:t>
            </a:r>
            <a:endParaRPr lang="en-IN" dirty="0"/>
          </a:p>
          <a:p>
            <a:pPr marL="285750" indent="-285750">
              <a:buFont typeface="Arial" panose="020B0604020202020204" pitchFamily="34" charset="0"/>
              <a:buChar char="•"/>
            </a:pPr>
            <a:r>
              <a:rPr lang="en-IN" dirty="0"/>
              <a:t>Green = LOW RISK, Red = HIGH RISK with probability score</a:t>
            </a:r>
            <a:endParaRPr lang="en-IN" dirty="0"/>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CBCDBC5-4E49-49CB-B926-A54925945C9F}" type="slidenum">
              <a:rPr lang="en-IN" smtClean="0"/>
            </a:fld>
            <a:endParaRPr lang="en-IN"/>
          </a:p>
        </p:txBody>
      </p:sp>
      <p:sp>
        <p:nvSpPr>
          <p:cNvPr id="4" name="TextBox 3"/>
          <p:cNvSpPr txBox="1"/>
          <p:nvPr/>
        </p:nvSpPr>
        <p:spPr>
          <a:xfrm>
            <a:off x="0" y="0"/>
            <a:ext cx="12192000" cy="6463308"/>
          </a:xfrm>
          <a:prstGeom prst="rect">
            <a:avLst/>
          </a:prstGeom>
          <a:noFill/>
        </p:spPr>
        <p:txBody>
          <a:bodyPr wrap="square">
            <a:spAutoFit/>
          </a:bodyPr>
          <a:lstStyle/>
          <a:p>
            <a:pPr algn="ctr">
              <a:buNone/>
            </a:pPr>
            <a:r>
              <a:rPr lang="en-IN" sz="3600" dirty="0"/>
              <a:t>METHODOLOGY</a:t>
            </a:r>
            <a:endParaRPr lang="en-IN" sz="3600" dirty="0"/>
          </a:p>
          <a:p>
            <a:pPr>
              <a:buNone/>
            </a:pPr>
            <a:endParaRPr lang="en-IN" dirty="0"/>
          </a:p>
          <a:p>
            <a:pPr>
              <a:buNone/>
            </a:pPr>
            <a:r>
              <a:rPr lang="en-IN" dirty="0"/>
              <a:t>Results &amp; Outcomes:</a:t>
            </a:r>
            <a:endParaRPr lang="en-IN" dirty="0"/>
          </a:p>
          <a:p>
            <a:pPr marL="285750" indent="-285750">
              <a:buFont typeface="Arial" panose="020B0604020202020204" pitchFamily="34" charset="0"/>
              <a:buChar char="•"/>
            </a:pPr>
            <a:r>
              <a:rPr lang="en-IN" dirty="0"/>
              <a:t>Model Accuracy: 84% on 600 test samples</a:t>
            </a:r>
            <a:endParaRPr lang="en-IN" dirty="0"/>
          </a:p>
          <a:p>
            <a:pPr marL="285750" indent="-285750">
              <a:buFont typeface="Arial" panose="020B0604020202020204" pitchFamily="34" charset="0"/>
              <a:buChar char="•"/>
            </a:pPr>
            <a:r>
              <a:rPr lang="en-IN" dirty="0"/>
              <a:t>Macro average precision: 85%, recall: 84%</a:t>
            </a:r>
            <a:endParaRPr lang="en-IN" dirty="0"/>
          </a:p>
          <a:p>
            <a:pPr marL="285750" indent="-285750">
              <a:buFont typeface="Arial" panose="020B0604020202020204" pitchFamily="34" charset="0"/>
              <a:buChar char="•"/>
            </a:pPr>
            <a:r>
              <a:rPr lang="en-IN" dirty="0"/>
              <a:t>Live web app successfully predicts HIGH/LOW RISK in real time</a:t>
            </a:r>
            <a:endParaRPr lang="en-IN" dirty="0"/>
          </a:p>
          <a:p>
            <a:pPr>
              <a:buNone/>
            </a:pPr>
            <a:r>
              <a:rPr lang="en-IN" dirty="0"/>
              <a:t>Example Predictions:</a:t>
            </a:r>
            <a:endParaRPr lang="en-IN" dirty="0"/>
          </a:p>
          <a:p>
            <a:pPr marL="285750" indent="-285750">
              <a:buFont typeface="Arial" panose="020B0604020202020204" pitchFamily="34" charset="0"/>
              <a:buChar char="•"/>
            </a:pPr>
            <a:r>
              <a:rPr lang="en-IN" b="1" dirty="0"/>
              <a:t>Non-smoker, no symptoms → LOW RISK (Probability: 2.49%)</a:t>
            </a:r>
            <a:endParaRPr lang="en-IN" b="1" dirty="0"/>
          </a:p>
          <a:p>
            <a:pPr marL="285750" indent="-285750">
              <a:buFont typeface="Arial" panose="020B0604020202020204" pitchFamily="34" charset="0"/>
              <a:buChar char="•"/>
            </a:pPr>
            <a:r>
              <a:rPr lang="en-IN" b="1" dirty="0"/>
              <a:t>Multiple symptoms present → HIGH RISK (Probability: 99.33%)</a:t>
            </a:r>
            <a:endParaRPr lang="en-IN" b="1" dirty="0"/>
          </a:p>
          <a:p>
            <a:pPr>
              <a:buNone/>
            </a:pPr>
            <a:r>
              <a:rPr lang="en-IN" dirty="0"/>
              <a:t>Tech Stack Used:</a:t>
            </a:r>
            <a:endParaRPr lang="en-IN" dirty="0"/>
          </a:p>
          <a:p>
            <a:pPr marL="285750" indent="-285750">
              <a:buFont typeface="Arial" panose="020B0604020202020204" pitchFamily="34" charset="0"/>
              <a:buChar char="•"/>
            </a:pPr>
            <a:r>
              <a:rPr lang="en-IN" dirty="0"/>
              <a:t>Python, scikit-learn, Flask, HTML/CSS/JavaScript</a:t>
            </a:r>
            <a:endParaRPr lang="en-IN" dirty="0"/>
          </a:p>
          <a:p>
            <a:pPr marL="285750" indent="-285750">
              <a:buFont typeface="Arial" panose="020B0604020202020204" pitchFamily="34" charset="0"/>
              <a:buChar char="•"/>
            </a:pPr>
            <a:r>
              <a:rPr lang="en-IN" dirty="0"/>
              <a:t>GitHub: github.com/hemu-08/lung-cancer-detection</a:t>
            </a:r>
            <a:endParaRPr lang="en-IN" dirty="0"/>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CBCDBC5-4E49-49CB-B926-A54925945C9F}" type="slidenum">
              <a:rPr lang="en-IN" smtClean="0"/>
            </a:fld>
            <a:endParaRPr lang="en-IN"/>
          </a:p>
        </p:txBody>
      </p:sp>
      <p:sp>
        <p:nvSpPr>
          <p:cNvPr id="3" name="TextBox 2"/>
          <p:cNvSpPr txBox="1"/>
          <p:nvPr/>
        </p:nvSpPr>
        <p:spPr>
          <a:xfrm>
            <a:off x="260306" y="1378405"/>
            <a:ext cx="10910492" cy="1404936"/>
          </a:xfrm>
          <a:prstGeom prst="rect">
            <a:avLst/>
          </a:prstGeom>
        </p:spPr>
        <p:txBody>
          <a:bodyPr lIns="0" tIns="0" rIns="0" bIns="0" rtlCol="0" anchor="t">
            <a:spAutoFit/>
          </a:bodyPr>
          <a:lstStyle/>
          <a:p>
            <a:pPr algn="just">
              <a:lnSpc>
                <a:spcPts val="2800"/>
              </a:lnSpc>
            </a:pPr>
            <a:r>
              <a:rPr lang="en-US" sz="2000" dirty="0">
                <a:solidFill>
                  <a:srgbClr val="000000"/>
                </a:solidFill>
                <a:ea typeface="Canva Sans"/>
                <a:cs typeface="Canva Sans"/>
                <a:sym typeface="Canva Sans"/>
              </a:rPr>
              <a:t> [1] Chen, C.-Y., Kuo-Yen, &amp; Yang, P.-C. (2024). The role of PM2.5 exposure in lung cancer: mechanisms, genetic factors, and clinical implications. EMBO Molecular Medicine. </a:t>
            </a:r>
            <a:r>
              <a:rPr lang="en-US" sz="2000" u="sng" dirty="0">
                <a:solidFill>
                  <a:srgbClr val="000000"/>
                </a:solidFill>
                <a:ea typeface="Canva Sans"/>
                <a:cs typeface="Canva Sans"/>
                <a:sym typeface="Canva Sans"/>
                <a:hlinkClick r:id="rId1" tooltip="https://www.embopress.org/doi/full/10.1038/s44321-024-00175-2"/>
              </a:rPr>
              <a:t>https://www.embopress.org/doi/full/10.1038/s44321-024-00175-2</a:t>
            </a:r>
            <a:endParaRPr lang="en-US" sz="2000" u="sng" dirty="0">
              <a:solidFill>
                <a:srgbClr val="000000"/>
              </a:solidFill>
              <a:ea typeface="Canva Sans"/>
              <a:cs typeface="Canva Sans"/>
              <a:sym typeface="Canva Sans"/>
            </a:endParaRPr>
          </a:p>
          <a:p>
            <a:pPr algn="just">
              <a:lnSpc>
                <a:spcPts val="2800"/>
              </a:lnSpc>
              <a:spcBef>
                <a:spcPct val="0"/>
              </a:spcBef>
            </a:pPr>
            <a:endParaRPr lang="en-US" sz="2000" u="sng" dirty="0">
              <a:solidFill>
                <a:srgbClr val="000000"/>
              </a:solidFill>
              <a:ea typeface="Canva Sans"/>
              <a:cs typeface="Canva Sans"/>
              <a:sym typeface="Canva Sans"/>
              <a:hlinkClick r:id="rId1" tooltip="https://www.embopress.org/doi/full/10.1038/s44321-024-00175-2"/>
            </a:endParaRPr>
          </a:p>
        </p:txBody>
      </p:sp>
      <p:sp>
        <p:nvSpPr>
          <p:cNvPr id="4" name="TextBox 3"/>
          <p:cNvSpPr txBox="1"/>
          <p:nvPr/>
        </p:nvSpPr>
        <p:spPr>
          <a:xfrm>
            <a:off x="260306" y="2705100"/>
            <a:ext cx="11632033" cy="1055161"/>
          </a:xfrm>
          <a:prstGeom prst="rect">
            <a:avLst/>
          </a:prstGeom>
        </p:spPr>
        <p:txBody>
          <a:bodyPr lIns="0" tIns="0" rIns="0" bIns="0" rtlCol="0" anchor="t">
            <a:spAutoFit/>
          </a:bodyPr>
          <a:lstStyle/>
          <a:p>
            <a:pPr>
              <a:lnSpc>
                <a:spcPts val="2800"/>
              </a:lnSpc>
            </a:pPr>
            <a:r>
              <a:rPr lang="en-US" sz="2000" dirty="0">
                <a:solidFill>
                  <a:srgbClr val="000000"/>
                </a:solidFill>
                <a:ea typeface="Canva Sans"/>
                <a:cs typeface="Canva Sans"/>
                <a:sym typeface="Canva Sans"/>
              </a:rPr>
              <a:t> [2] Chiu, C.-H., &amp; Yang, P.-C. (2024). Challenges of lung cancer control in Asia. The Lancet </a:t>
            </a:r>
            <a:r>
              <a:rPr lang="en-US" sz="2000" dirty="0" err="1">
                <a:solidFill>
                  <a:srgbClr val="000000"/>
                </a:solidFill>
                <a:ea typeface="Canva Sans"/>
                <a:cs typeface="Canva Sans"/>
                <a:sym typeface="Canva Sans"/>
              </a:rPr>
              <a:t>eClinicalMedicine</a:t>
            </a:r>
            <a:r>
              <a:rPr lang="en-US" sz="2000" dirty="0">
                <a:solidFill>
                  <a:srgbClr val="000000"/>
                </a:solidFill>
                <a:ea typeface="Canva Sans"/>
                <a:cs typeface="Canva Sans"/>
                <a:sym typeface="Canva Sans"/>
              </a:rPr>
              <a:t>, 72, Article 102942. </a:t>
            </a:r>
            <a:r>
              <a:rPr lang="en-US" sz="2000" u="sng" dirty="0">
                <a:solidFill>
                  <a:srgbClr val="000000"/>
                </a:solidFill>
                <a:ea typeface="Canva Sans"/>
                <a:cs typeface="Canva Sans"/>
                <a:sym typeface="Canva Sans"/>
                <a:hlinkClick r:id="rId2" tooltip="https://www.thelancet.com/journals/eclinm/article/PIIS2589-5370(24)00285-2/fulltext"/>
              </a:rPr>
              <a:t>https://www.thelancet.com/journals/eclinm/article/PIIS2589-5370(24)00285-2/fulltext</a:t>
            </a:r>
            <a:endParaRPr lang="en-US" sz="2000" u="sng" dirty="0">
              <a:solidFill>
                <a:srgbClr val="000000"/>
              </a:solidFill>
              <a:ea typeface="Canva Sans"/>
              <a:cs typeface="Canva Sans"/>
              <a:sym typeface="Canva Sans"/>
            </a:endParaRPr>
          </a:p>
          <a:p>
            <a:pPr algn="just">
              <a:lnSpc>
                <a:spcPts val="2800"/>
              </a:lnSpc>
              <a:spcBef>
                <a:spcPct val="0"/>
              </a:spcBef>
            </a:pPr>
            <a:endParaRPr lang="en-US" sz="2000" u="sng" dirty="0">
              <a:solidFill>
                <a:srgbClr val="000000"/>
              </a:solidFill>
              <a:ea typeface="Canva Sans"/>
              <a:cs typeface="Canva Sans"/>
              <a:sym typeface="Canva Sans"/>
              <a:hlinkClick r:id="rId2" tooltip="https://www.thelancet.com/journals/eclinm/article/PIIS2589-5370(24)00285-2/fulltext"/>
            </a:endParaRPr>
          </a:p>
        </p:txBody>
      </p:sp>
      <p:sp>
        <p:nvSpPr>
          <p:cNvPr id="5" name="TextBox 4"/>
          <p:cNvSpPr txBox="1"/>
          <p:nvPr/>
        </p:nvSpPr>
        <p:spPr>
          <a:xfrm>
            <a:off x="260306" y="3924300"/>
            <a:ext cx="11632033" cy="1764009"/>
          </a:xfrm>
          <a:prstGeom prst="rect">
            <a:avLst/>
          </a:prstGeom>
        </p:spPr>
        <p:txBody>
          <a:bodyPr lIns="0" tIns="0" rIns="0" bIns="0" rtlCol="0" anchor="t">
            <a:spAutoFit/>
          </a:bodyPr>
          <a:lstStyle/>
          <a:p>
            <a:pPr algn="just">
              <a:lnSpc>
                <a:spcPts val="2800"/>
              </a:lnSpc>
            </a:pPr>
            <a:r>
              <a:rPr lang="en-US" sz="2000" dirty="0">
                <a:solidFill>
                  <a:srgbClr val="000000"/>
                </a:solidFill>
                <a:ea typeface="Canva Sans"/>
                <a:cs typeface="Canva Sans"/>
                <a:sym typeface="Canva Sans"/>
              </a:rPr>
              <a:t> [3] Zheng, H., Zhang, Q., Gong, Y., Liu, Z., &amp; Chen, S. (2024). Identification of prognostic biomarkers for stage III non-small cell lung carcinoma in female nonsmokers using machine learning. In 2024 10th International Conference on Biomedical Engineering and Informatics (BMEI). </a:t>
            </a:r>
            <a:r>
              <a:rPr lang="en-US" sz="2000" u="sng" dirty="0">
                <a:solidFill>
                  <a:srgbClr val="000000"/>
                </a:solidFill>
                <a:ea typeface="Canva Sans"/>
                <a:cs typeface="Canva Sans"/>
                <a:sym typeface="Canva Sans"/>
                <a:hlinkClick r:id="rId3" tooltip="https://ieeexplore.ieee.org/abstract/document/10762221"/>
              </a:rPr>
              <a:t>https://ieeexplore.ieee.org/abstract/document/10762221</a:t>
            </a:r>
            <a:endParaRPr lang="en-US" sz="2000" u="sng" dirty="0">
              <a:solidFill>
                <a:srgbClr val="000000"/>
              </a:solidFill>
              <a:ea typeface="Canva Sans"/>
              <a:cs typeface="Canva Sans"/>
              <a:sym typeface="Canva Sans"/>
            </a:endParaRPr>
          </a:p>
          <a:p>
            <a:pPr algn="just">
              <a:lnSpc>
                <a:spcPts val="2800"/>
              </a:lnSpc>
              <a:spcBef>
                <a:spcPct val="0"/>
              </a:spcBef>
            </a:pPr>
            <a:endParaRPr lang="en-US" sz="2000" u="sng" dirty="0">
              <a:solidFill>
                <a:srgbClr val="000000"/>
              </a:solidFill>
              <a:ea typeface="Canva Sans"/>
              <a:cs typeface="Canva Sans"/>
              <a:sym typeface="Canva Sans"/>
              <a:hlinkClick r:id="rId3" tooltip="https://ieeexplore.ieee.org/abstract/document/10762221"/>
            </a:endParaRPr>
          </a:p>
        </p:txBody>
      </p:sp>
      <p:sp>
        <p:nvSpPr>
          <p:cNvPr id="7" name="TextBox 5"/>
          <p:cNvSpPr txBox="1"/>
          <p:nvPr/>
        </p:nvSpPr>
        <p:spPr>
          <a:xfrm>
            <a:off x="260306" y="5651500"/>
            <a:ext cx="11632033" cy="1055161"/>
          </a:xfrm>
          <a:prstGeom prst="rect">
            <a:avLst/>
          </a:prstGeom>
        </p:spPr>
        <p:txBody>
          <a:bodyPr lIns="0" tIns="0" rIns="0" bIns="0" rtlCol="0" anchor="t">
            <a:spAutoFit/>
          </a:bodyPr>
          <a:lstStyle/>
          <a:p>
            <a:pPr algn="just">
              <a:lnSpc>
                <a:spcPts val="2800"/>
              </a:lnSpc>
              <a:spcBef>
                <a:spcPct val="0"/>
              </a:spcBef>
            </a:pPr>
            <a:r>
              <a:rPr lang="en-US" sz="2000" dirty="0">
                <a:solidFill>
                  <a:srgbClr val="000000"/>
                </a:solidFill>
                <a:ea typeface="Canva Sans"/>
                <a:cs typeface="Canva Sans"/>
                <a:sym typeface="Canva Sans"/>
              </a:rPr>
              <a:t> [4] Hendriks, L. E. L., Remon, J., Faivre-Finn, C., </a:t>
            </a:r>
            <a:r>
              <a:rPr lang="en-US" sz="2000" dirty="0" err="1">
                <a:solidFill>
                  <a:srgbClr val="000000"/>
                </a:solidFill>
                <a:ea typeface="Canva Sans"/>
                <a:cs typeface="Canva Sans"/>
                <a:sym typeface="Canva Sans"/>
              </a:rPr>
              <a:t>Garassino</a:t>
            </a:r>
            <a:r>
              <a:rPr lang="en-US" sz="2000" dirty="0">
                <a:solidFill>
                  <a:srgbClr val="000000"/>
                </a:solidFill>
                <a:ea typeface="Canva Sans"/>
                <a:cs typeface="Canva Sans"/>
                <a:sym typeface="Canva Sans"/>
              </a:rPr>
              <a:t>, M. C., </a:t>
            </a:r>
            <a:r>
              <a:rPr lang="en-US" sz="2000" dirty="0" err="1">
                <a:solidFill>
                  <a:srgbClr val="000000"/>
                </a:solidFill>
                <a:ea typeface="Canva Sans"/>
                <a:cs typeface="Canva Sans"/>
                <a:sym typeface="Canva Sans"/>
              </a:rPr>
              <a:t>Heymach</a:t>
            </a:r>
            <a:r>
              <a:rPr lang="en-US" sz="2000" dirty="0">
                <a:solidFill>
                  <a:srgbClr val="000000"/>
                </a:solidFill>
                <a:ea typeface="Canva Sans"/>
                <a:cs typeface="Canva Sans"/>
                <a:sym typeface="Canva Sans"/>
              </a:rPr>
              <a:t>, J. V., Kerr, K. M., Tan, D. S. W., Veronesi, G., &amp; Reck, M. (2024). Non-small-cell lung cancer. Nature Reviews Disease Primers, 10, Article 43.</a:t>
            </a:r>
            <a:endParaRPr lang="en-US" sz="2000" dirty="0">
              <a:solidFill>
                <a:srgbClr val="000000"/>
              </a:solidFill>
              <a:ea typeface="Canva Sans"/>
              <a:cs typeface="Canva Sans"/>
              <a:sym typeface="Canva Sans"/>
            </a:endParaRPr>
          </a:p>
          <a:p>
            <a:pPr algn="just">
              <a:lnSpc>
                <a:spcPts val="2800"/>
              </a:lnSpc>
              <a:spcBef>
                <a:spcPct val="0"/>
              </a:spcBef>
            </a:pPr>
            <a:endParaRPr lang="en-US" sz="2000" dirty="0">
              <a:solidFill>
                <a:srgbClr val="000000"/>
              </a:solidFill>
              <a:ea typeface="Canva Sans"/>
              <a:cs typeface="Canva Sans"/>
              <a:sym typeface="Canva Sans"/>
            </a:endParaRPr>
          </a:p>
        </p:txBody>
      </p:sp>
      <p:sp>
        <p:nvSpPr>
          <p:cNvPr id="8" name="Title 5"/>
          <p:cNvSpPr txBox="1"/>
          <p:nvPr/>
        </p:nvSpPr>
        <p:spPr>
          <a:xfrm>
            <a:off x="332740" y="308610"/>
            <a:ext cx="6962775" cy="6273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Garamond" panose="02020404030301010803" pitchFamily="18" charset="0"/>
              </a:rPr>
              <a:t>Key References</a:t>
            </a:r>
            <a:endParaRPr lang="en-US" dirty="0">
              <a:latin typeface="Garamond" panose="020204040303010108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CBCDBC5-4E49-49CB-B926-A54925945C9F}" type="slidenum">
              <a:rPr lang="en-IN" smtClean="0"/>
            </a:fld>
            <a:endParaRPr lang="en-IN"/>
          </a:p>
        </p:txBody>
      </p:sp>
      <p:sp>
        <p:nvSpPr>
          <p:cNvPr id="13" name="TextBox 2"/>
          <p:cNvSpPr txBox="1"/>
          <p:nvPr/>
        </p:nvSpPr>
        <p:spPr>
          <a:xfrm>
            <a:off x="205242" y="1378405"/>
            <a:ext cx="11781517" cy="1404936"/>
          </a:xfrm>
          <a:prstGeom prst="rect">
            <a:avLst/>
          </a:prstGeom>
        </p:spPr>
        <p:txBody>
          <a:bodyPr lIns="0" tIns="0" rIns="0" bIns="0" rtlCol="0" anchor="t">
            <a:spAutoFit/>
          </a:bodyPr>
          <a:lstStyle/>
          <a:p>
            <a:pPr algn="just">
              <a:lnSpc>
                <a:spcPts val="2800"/>
              </a:lnSpc>
            </a:pPr>
            <a:r>
              <a:rPr lang="en-US" sz="2000" dirty="0">
                <a:solidFill>
                  <a:srgbClr val="000000"/>
                </a:solidFill>
                <a:ea typeface="Canva Sans"/>
                <a:cs typeface="Canva Sans"/>
                <a:sym typeface="Canva Sans"/>
              </a:rPr>
              <a:t>[5] Buana, I., Soeroso, N. N., </a:t>
            </a:r>
            <a:r>
              <a:rPr lang="en-US" sz="2000" dirty="0" err="1">
                <a:solidFill>
                  <a:srgbClr val="000000"/>
                </a:solidFill>
                <a:ea typeface="Canva Sans"/>
                <a:cs typeface="Canva Sans"/>
                <a:sym typeface="Canva Sans"/>
              </a:rPr>
              <a:t>Tarigan</a:t>
            </a:r>
            <a:r>
              <a:rPr lang="en-US" sz="2000" dirty="0">
                <a:solidFill>
                  <a:srgbClr val="000000"/>
                </a:solidFill>
                <a:ea typeface="Canva Sans"/>
                <a:cs typeface="Canva Sans"/>
                <a:sym typeface="Canva Sans"/>
              </a:rPr>
              <a:t>, S. P., &amp; </a:t>
            </a:r>
            <a:r>
              <a:rPr lang="en-US" sz="2000" dirty="0" err="1">
                <a:solidFill>
                  <a:srgbClr val="000000"/>
                </a:solidFill>
                <a:ea typeface="Canva Sans"/>
                <a:cs typeface="Canva Sans"/>
                <a:sym typeface="Canva Sans"/>
              </a:rPr>
              <a:t>Syahruddin</a:t>
            </a:r>
            <a:r>
              <a:rPr lang="en-US" sz="2000" dirty="0">
                <a:solidFill>
                  <a:srgbClr val="000000"/>
                </a:solidFill>
                <a:ea typeface="Canva Sans"/>
                <a:cs typeface="Canva Sans"/>
                <a:sym typeface="Canva Sans"/>
              </a:rPr>
              <a:t>, E. (2022). Risk factors for lung cancer in non-smoking women, North Sumatera, Indonesia. Sumatera Medical Journal, 8(1), 28–34. </a:t>
            </a:r>
            <a:r>
              <a:rPr lang="en-US" sz="2000" u="sng" dirty="0">
                <a:solidFill>
                  <a:srgbClr val="000000"/>
                </a:solidFill>
                <a:ea typeface="Canva Sans"/>
                <a:cs typeface="Canva Sans"/>
                <a:sym typeface="Canva Sans"/>
                <a:hlinkClick r:id="rId1" tooltip="https://doi.org/10.32734/sumej.v8i1.18763"/>
              </a:rPr>
              <a:t>https://doi.org/10.32734/sumej.v8i1.18763</a:t>
            </a:r>
            <a:endParaRPr lang="en-US" sz="2000" u="sng" dirty="0">
              <a:solidFill>
                <a:srgbClr val="000000"/>
              </a:solidFill>
              <a:ea typeface="Canva Sans"/>
              <a:cs typeface="Canva Sans"/>
              <a:sym typeface="Canva Sans"/>
            </a:endParaRPr>
          </a:p>
          <a:p>
            <a:pPr algn="just">
              <a:lnSpc>
                <a:spcPts val="2800"/>
              </a:lnSpc>
              <a:spcBef>
                <a:spcPct val="0"/>
              </a:spcBef>
            </a:pPr>
            <a:endParaRPr lang="en-US" sz="2000" u="sng" dirty="0">
              <a:solidFill>
                <a:srgbClr val="000000"/>
              </a:solidFill>
              <a:ea typeface="Canva Sans"/>
              <a:cs typeface="Canva Sans"/>
              <a:sym typeface="Canva Sans"/>
              <a:hlinkClick r:id="rId1" tooltip="https://doi.org/10.32734/sumej.v8i1.18763"/>
            </a:endParaRPr>
          </a:p>
        </p:txBody>
      </p:sp>
      <p:sp>
        <p:nvSpPr>
          <p:cNvPr id="14" name="TextBox 3"/>
          <p:cNvSpPr txBox="1"/>
          <p:nvPr/>
        </p:nvSpPr>
        <p:spPr>
          <a:xfrm>
            <a:off x="205242" y="2608464"/>
            <a:ext cx="11951717" cy="1045864"/>
          </a:xfrm>
          <a:prstGeom prst="rect">
            <a:avLst/>
          </a:prstGeom>
        </p:spPr>
        <p:txBody>
          <a:bodyPr lIns="0" tIns="0" rIns="0" bIns="0" rtlCol="0" anchor="t">
            <a:spAutoFit/>
          </a:bodyPr>
          <a:lstStyle/>
          <a:p>
            <a:pPr algn="just">
              <a:lnSpc>
                <a:spcPts val="2800"/>
              </a:lnSpc>
              <a:spcBef>
                <a:spcPct val="0"/>
              </a:spcBef>
            </a:pPr>
            <a:r>
              <a:rPr lang="en-US" sz="2000" dirty="0">
                <a:solidFill>
                  <a:srgbClr val="000000"/>
                </a:solidFill>
                <a:ea typeface="Canva Sans"/>
                <a:cs typeface="Canva Sans"/>
                <a:sym typeface="Canva Sans"/>
              </a:rPr>
              <a:t> [6] Győrffy, B. (2024). Transcriptome-level discovery of survival-associated biomarkers and therapy targets in non-small-cell lung cancer. British Journal of Pharmacology, 181(5), 1007–1022. </a:t>
            </a:r>
            <a:endParaRPr lang="en-US" sz="2000" dirty="0">
              <a:solidFill>
                <a:srgbClr val="000000"/>
              </a:solidFill>
              <a:ea typeface="Canva Sans"/>
              <a:cs typeface="Canva Sans"/>
              <a:sym typeface="Canva Sans"/>
            </a:endParaRPr>
          </a:p>
          <a:p>
            <a:pPr algn="just">
              <a:lnSpc>
                <a:spcPts val="2800"/>
              </a:lnSpc>
              <a:spcBef>
                <a:spcPct val="0"/>
              </a:spcBef>
            </a:pPr>
            <a:endParaRPr lang="en-US" sz="2000" dirty="0">
              <a:solidFill>
                <a:srgbClr val="000000"/>
              </a:solidFill>
              <a:ea typeface="Canva Sans"/>
              <a:cs typeface="Canva Sans"/>
              <a:sym typeface="Canva Sans"/>
            </a:endParaRPr>
          </a:p>
        </p:txBody>
      </p:sp>
      <p:sp>
        <p:nvSpPr>
          <p:cNvPr id="15" name="TextBox 4"/>
          <p:cNvSpPr txBox="1"/>
          <p:nvPr/>
        </p:nvSpPr>
        <p:spPr>
          <a:xfrm>
            <a:off x="205241" y="3624464"/>
            <a:ext cx="11806547" cy="1055161"/>
          </a:xfrm>
          <a:prstGeom prst="rect">
            <a:avLst/>
          </a:prstGeom>
        </p:spPr>
        <p:txBody>
          <a:bodyPr lIns="0" tIns="0" rIns="0" bIns="0" rtlCol="0" anchor="t">
            <a:spAutoFit/>
          </a:bodyPr>
          <a:lstStyle/>
          <a:p>
            <a:pPr>
              <a:lnSpc>
                <a:spcPts val="2800"/>
              </a:lnSpc>
            </a:pPr>
            <a:r>
              <a:rPr lang="en-US" sz="2000" dirty="0">
                <a:solidFill>
                  <a:srgbClr val="000000"/>
                </a:solidFill>
                <a:ea typeface="Canva Sans"/>
                <a:cs typeface="Canva Sans"/>
                <a:sym typeface="Canva Sans"/>
              </a:rPr>
              <a:t>[7]Lam, S. (2025). Lung cancer screening in never-smokers. Current Opinion in Oncology, 37(1), 54–58. </a:t>
            </a:r>
            <a:r>
              <a:rPr lang="en-US" sz="2000" u="sng" dirty="0">
                <a:solidFill>
                  <a:srgbClr val="000000"/>
                </a:solidFill>
                <a:ea typeface="Canva Sans"/>
                <a:cs typeface="Canva Sans"/>
                <a:sym typeface="Canva Sans"/>
                <a:hlinkClick r:id="rId2" tooltip="https://journals.lww.com/co-oncology/abstract/2025/01000/lung_cancer_screening_in_never_smokers.13.aspx"/>
              </a:rPr>
              <a:t>https://journals.lww.com/co-oncology/abstract/2025/01000/lung_cancer_screening_in_never_smokers.13.aspx</a:t>
            </a:r>
            <a:endParaRPr lang="en-US" sz="2000" u="sng" dirty="0">
              <a:solidFill>
                <a:srgbClr val="000000"/>
              </a:solidFill>
              <a:ea typeface="Canva Sans"/>
              <a:cs typeface="Canva Sans"/>
              <a:sym typeface="Canva Sans"/>
            </a:endParaRPr>
          </a:p>
          <a:p>
            <a:pPr>
              <a:lnSpc>
                <a:spcPts val="2800"/>
              </a:lnSpc>
              <a:spcBef>
                <a:spcPct val="0"/>
              </a:spcBef>
            </a:pPr>
            <a:endParaRPr lang="en-US" sz="2000" u="sng" dirty="0">
              <a:solidFill>
                <a:srgbClr val="000000"/>
              </a:solidFill>
              <a:ea typeface="Canva Sans"/>
              <a:cs typeface="Canva Sans"/>
              <a:sym typeface="Canva Sans"/>
              <a:hlinkClick r:id="rId2" tooltip="https://journals.lww.com/co-oncology/abstract/2025/01000/lung_cancer_screening_in_never_smokers.13.aspx"/>
            </a:endParaRPr>
          </a:p>
        </p:txBody>
      </p:sp>
      <p:sp>
        <p:nvSpPr>
          <p:cNvPr id="16" name="TextBox 5"/>
          <p:cNvSpPr txBox="1"/>
          <p:nvPr/>
        </p:nvSpPr>
        <p:spPr>
          <a:xfrm>
            <a:off x="205242" y="4856364"/>
            <a:ext cx="11781517" cy="1404936"/>
          </a:xfrm>
          <a:prstGeom prst="rect">
            <a:avLst/>
          </a:prstGeom>
        </p:spPr>
        <p:txBody>
          <a:bodyPr lIns="0" tIns="0" rIns="0" bIns="0" rtlCol="0" anchor="t">
            <a:spAutoFit/>
          </a:bodyPr>
          <a:lstStyle/>
          <a:p>
            <a:pPr algn="just">
              <a:lnSpc>
                <a:spcPts val="2800"/>
              </a:lnSpc>
              <a:spcBef>
                <a:spcPct val="0"/>
              </a:spcBef>
            </a:pPr>
            <a:r>
              <a:rPr lang="en-US" sz="2000" dirty="0">
                <a:solidFill>
                  <a:srgbClr val="000000"/>
                </a:solidFill>
                <a:ea typeface="Canva Sans"/>
                <a:cs typeface="Canva Sans"/>
                <a:sym typeface="Canva Sans"/>
              </a:rPr>
              <a:t>[8]Kang, H.-R., Cho, J. Y., Lee, S. H., Lee, Y. J., Park, J. S., Cho, Y.-J., Yoon, H. I., Lee, K. W., Lee, J. H., &amp; Lee, C.-T. (2019). Role of low-dose computerized tomography in lung cancer screening among never-smokers. Journal of Thoracic Oncology, 14(10), 1649–1657. </a:t>
            </a:r>
            <a:endParaRPr lang="en-US" sz="2000" dirty="0">
              <a:solidFill>
                <a:srgbClr val="000000"/>
              </a:solidFill>
              <a:ea typeface="Canva Sans"/>
              <a:cs typeface="Canva Sans"/>
              <a:sym typeface="Canva Sans"/>
            </a:endParaRPr>
          </a:p>
          <a:p>
            <a:pPr algn="just">
              <a:lnSpc>
                <a:spcPts val="2800"/>
              </a:lnSpc>
              <a:spcBef>
                <a:spcPct val="0"/>
              </a:spcBef>
            </a:pPr>
            <a:endParaRPr lang="en-US" sz="2000" dirty="0">
              <a:solidFill>
                <a:srgbClr val="000000"/>
              </a:solidFill>
              <a:ea typeface="Canva Sans"/>
              <a:cs typeface="Canva Sans"/>
              <a:sym typeface="Canv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CBCDBC5-4E49-49CB-B926-A54925945C9F}" type="slidenum">
              <a:rPr lang="en-IN" smtClean="0"/>
            </a:fld>
            <a:endParaRPr lang="en-IN"/>
          </a:p>
        </p:txBody>
      </p:sp>
      <p:sp>
        <p:nvSpPr>
          <p:cNvPr id="3" name="TextBox 2"/>
          <p:cNvSpPr txBox="1"/>
          <p:nvPr/>
        </p:nvSpPr>
        <p:spPr>
          <a:xfrm>
            <a:off x="272831" y="1614377"/>
            <a:ext cx="11315976" cy="2123082"/>
          </a:xfrm>
          <a:prstGeom prst="rect">
            <a:avLst/>
          </a:prstGeom>
        </p:spPr>
        <p:txBody>
          <a:bodyPr lIns="0" tIns="0" rIns="0" bIns="0" rtlCol="0" anchor="t">
            <a:spAutoFit/>
          </a:bodyPr>
          <a:lstStyle/>
          <a:p>
            <a:pPr algn="just">
              <a:lnSpc>
                <a:spcPts val="2800"/>
              </a:lnSpc>
            </a:pP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rPr>
              <a:t>[9] Kerpel-Fronius, A., Tammemägi, M., Cavic, M., Henschke, C., Jiang, L., </a:t>
            </a:r>
            <a:r>
              <a:rPr lang="en-US" sz="20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rPr>
              <a:t>Kazerooni</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rPr>
              <a:t>, E., Lee, C.-T., Ventura, L., Yang, D., Lam, S., Huber, R. M., et al. (2022). Screening for lung cancer in individuals who never smoked: An International Association for the Study of Lung Cancer Early Detection and Screening Committee report. Journal of Thoracic Oncology, 17(2), 188–205. </a:t>
            </a:r>
            <a:r>
              <a:rPr lang="en-US" sz="2000" u="sng"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hlinkClick r:id="rId1" tooltip="https://www.sciencedirect.com/science/article/pii/S1556086421023911"/>
              </a:rPr>
              <a:t>https://www.sciencedirect.com/science/article/pii/S1556086421023911</a:t>
            </a:r>
            <a:endParaRPr lang="en-US" sz="2000" u="sng"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endParaRPr>
          </a:p>
          <a:p>
            <a:pPr algn="just">
              <a:lnSpc>
                <a:spcPts val="2800"/>
              </a:lnSpc>
              <a:spcBef>
                <a:spcPct val="0"/>
              </a:spcBef>
            </a:pPr>
            <a:endParaRPr lang="en-US" sz="2000" u="sng"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hlinkClick r:id="rId1" tooltip="https://www.sciencedirect.com/science/article/pii/S1556086421023911"/>
            </a:endParaRPr>
          </a:p>
        </p:txBody>
      </p:sp>
      <p:sp>
        <p:nvSpPr>
          <p:cNvPr id="4" name="TextBox 3"/>
          <p:cNvSpPr txBox="1"/>
          <p:nvPr/>
        </p:nvSpPr>
        <p:spPr>
          <a:xfrm>
            <a:off x="272832" y="3933149"/>
            <a:ext cx="11233369" cy="1404936"/>
          </a:xfrm>
          <a:prstGeom prst="rect">
            <a:avLst/>
          </a:prstGeom>
        </p:spPr>
        <p:txBody>
          <a:bodyPr lIns="0" tIns="0" rIns="0" bIns="0" rtlCol="0" anchor="t">
            <a:spAutoFit/>
          </a:bodyPr>
          <a:lstStyle/>
          <a:p>
            <a:pPr algn="just">
              <a:lnSpc>
                <a:spcPts val="2800"/>
              </a:lnSpc>
              <a:spcBef>
                <a:spcPct val="0"/>
              </a:spcBef>
            </a:pPr>
            <a:r>
              <a:rPr lang="en-US" sz="2000" dirty="0">
                <a:solidFill>
                  <a:srgbClr val="000000"/>
                </a:solidFill>
                <a:ea typeface="Canva Sans"/>
                <a:cs typeface="Canva Sans"/>
                <a:sym typeface="Canva Sans"/>
              </a:rPr>
              <a:t>[10] Wang, P., Sun, S., Lam, S., &amp; Lockwood, W. W. (2023). New insights into the biology and development of lung cancer in never smokers—Implications for early detection and treatment. Journal of Translational Medicine, 21(1), Article 484.</a:t>
            </a:r>
            <a:endParaRPr lang="en-US" sz="2000" dirty="0">
              <a:solidFill>
                <a:srgbClr val="000000"/>
              </a:solidFill>
              <a:ea typeface="Canva Sans"/>
              <a:cs typeface="Canva Sans"/>
              <a:sym typeface="Canva Sans"/>
            </a:endParaRPr>
          </a:p>
          <a:p>
            <a:pPr algn="just">
              <a:lnSpc>
                <a:spcPts val="2800"/>
              </a:lnSpc>
              <a:spcBef>
                <a:spcPct val="0"/>
              </a:spcBef>
            </a:pPr>
            <a:endParaRPr lang="en-US" sz="2000" dirty="0">
              <a:solidFill>
                <a:srgbClr val="000000"/>
              </a:solidFill>
              <a:ea typeface="Canva Sans"/>
              <a:cs typeface="Canva Sans"/>
              <a:sym typeface="Canv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CBCDBC5-4E49-49CB-B926-A54925945C9F}" type="slidenum">
              <a:rPr lang="en-IN" smtClean="0"/>
            </a:fld>
            <a:endParaRPr lang="en-IN"/>
          </a:p>
        </p:txBody>
      </p:sp>
      <p:sp>
        <p:nvSpPr>
          <p:cNvPr id="5" name="TextBox 4"/>
          <p:cNvSpPr txBox="1"/>
          <p:nvPr/>
        </p:nvSpPr>
        <p:spPr>
          <a:xfrm>
            <a:off x="3049030" y="3244334"/>
            <a:ext cx="6098058" cy="369332"/>
          </a:xfrm>
          <a:prstGeom prst="rect">
            <a:avLst/>
          </a:prstGeom>
          <a:noFill/>
        </p:spPr>
        <p:txBody>
          <a:bodyPr wrap="square">
            <a:spAutoFit/>
          </a:bodyPr>
          <a:lstStyle/>
          <a:p>
            <a:endParaRPr lang="en-IN" dirty="0"/>
          </a:p>
        </p:txBody>
      </p:sp>
      <p:sp>
        <p:nvSpPr>
          <p:cNvPr id="7" name="TextBox 6"/>
          <p:cNvSpPr txBox="1"/>
          <p:nvPr/>
        </p:nvSpPr>
        <p:spPr>
          <a:xfrm>
            <a:off x="4088912" y="2921168"/>
            <a:ext cx="4014176" cy="1015663"/>
          </a:xfrm>
          <a:prstGeom prst="rect">
            <a:avLst/>
          </a:prstGeom>
          <a:noFill/>
        </p:spPr>
        <p:txBody>
          <a:bodyPr wrap="none" rtlCol="0">
            <a:spAutoFit/>
          </a:bodyPr>
          <a:lstStyle/>
          <a:p>
            <a:r>
              <a:rPr lang="en-IN" sz="6000" b="1" dirty="0"/>
              <a:t>THANK YOU</a:t>
            </a:r>
            <a:endParaRPr lang="en-IN" sz="60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10273</Words>
  <Application>WPS Presentation</Application>
  <PresentationFormat>Widescreen</PresentationFormat>
  <Paragraphs>335</Paragraphs>
  <Slides>16</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16</vt:i4>
      </vt:variant>
    </vt:vector>
  </HeadingPairs>
  <TitlesOfParts>
    <vt:vector size="30" baseType="lpstr">
      <vt:lpstr>Arial</vt:lpstr>
      <vt:lpstr>SimSun</vt:lpstr>
      <vt:lpstr>Wingdings</vt:lpstr>
      <vt:lpstr>Times New Roman</vt:lpstr>
      <vt:lpstr>Canva Sans Bold</vt:lpstr>
      <vt:lpstr>Segoe Print</vt:lpstr>
      <vt:lpstr>Canva Sans</vt:lpstr>
      <vt:lpstr>Garamond</vt:lpstr>
      <vt:lpstr>Calibri</vt:lpstr>
      <vt:lpstr>Garamond</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Prajwala Yadlapalli</dc:creator>
  <cp:lastModifiedBy>Hemu sai</cp:lastModifiedBy>
  <cp:revision>41</cp:revision>
  <dcterms:created xsi:type="dcterms:W3CDTF">2025-07-26T09:19:00Z</dcterms:created>
  <dcterms:modified xsi:type="dcterms:W3CDTF">2026-04-23T11:23:47Z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C6BBEE77C68C4A17BF0BD4384A4DF87C_13</vt:lpwstr>
  </property>
  <property fmtid="{D5CDD505-2E9C-101B-9397-08002B2CF9AE}" pid="3" name="KSOProductBuildVer">
    <vt:lpwstr>1033-12.1.0.25242</vt:lpwstr>
  </property>
</Properties>
</file>